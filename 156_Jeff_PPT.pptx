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82" r:id="rId2"/>
    <p:sldId id="257" r:id="rId3"/>
    <p:sldId id="258" r:id="rId4"/>
    <p:sldId id="259" r:id="rId5"/>
    <p:sldId id="260" r:id="rId6"/>
    <p:sldId id="262" r:id="rId7"/>
    <p:sldId id="263" r:id="rId8"/>
    <p:sldId id="261"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249C"/>
        </a:fontRef>
        <a:srgbClr val="00249C"/>
      </a:tcTxStyle>
      <a:tcStyle>
        <a:tcBdr>
          <a:left>
            <a:ln w="12700" cap="flat">
              <a:solidFill>
                <a:srgbClr val="00249C"/>
              </a:solidFill>
              <a:prstDash val="solid"/>
              <a:round/>
            </a:ln>
          </a:left>
          <a:right>
            <a:ln w="12700" cap="flat">
              <a:solidFill>
                <a:srgbClr val="00249C"/>
              </a:solidFill>
              <a:prstDash val="solid"/>
              <a:round/>
            </a:ln>
          </a:right>
          <a:top>
            <a:ln w="12700" cap="flat">
              <a:solidFill>
                <a:srgbClr val="00249C"/>
              </a:solidFill>
              <a:prstDash val="solid"/>
              <a:round/>
            </a:ln>
          </a:top>
          <a:bottom>
            <a:ln w="12700" cap="flat">
              <a:solidFill>
                <a:srgbClr val="00249C"/>
              </a:solidFill>
              <a:prstDash val="solid"/>
              <a:round/>
            </a:ln>
          </a:bottom>
          <a:insideH>
            <a:ln w="12700" cap="flat">
              <a:solidFill>
                <a:srgbClr val="00249C"/>
              </a:solidFill>
              <a:prstDash val="solid"/>
              <a:round/>
            </a:ln>
          </a:insideH>
          <a:insideV>
            <a:ln w="12700" cap="flat">
              <a:solidFill>
                <a:srgbClr val="00249C"/>
              </a:solidFill>
              <a:prstDash val="solid"/>
              <a:round/>
            </a:ln>
          </a:insideV>
        </a:tcBdr>
        <a:fill>
          <a:noFill/>
        </a:fill>
      </a:tcStyle>
    </a:wholeTbl>
    <a:band2H>
      <a:tcTxStyle/>
      <a:tcStyle>
        <a:tcBdr/>
        <a:fill>
          <a:solidFill>
            <a:srgbClr val="FFFFFF"/>
          </a:solidFill>
        </a:fill>
      </a:tcStyle>
    </a:band2H>
    <a:firstCol>
      <a:tcTxStyle b="off" i="off">
        <a:fontRef idx="major">
          <a:srgbClr val="00249C"/>
        </a:fontRef>
        <a:srgbClr val="00249C"/>
      </a:tcTxStyle>
      <a:tcStyle>
        <a:tcBdr>
          <a:left>
            <a:ln w="12700" cap="flat">
              <a:solidFill>
                <a:srgbClr val="00249C"/>
              </a:solidFill>
              <a:prstDash val="solid"/>
              <a:round/>
            </a:ln>
          </a:left>
          <a:right>
            <a:ln w="12700" cap="flat">
              <a:solidFill>
                <a:srgbClr val="00249C"/>
              </a:solidFill>
              <a:prstDash val="solid"/>
              <a:round/>
            </a:ln>
          </a:right>
          <a:top>
            <a:ln w="12700" cap="flat">
              <a:solidFill>
                <a:srgbClr val="00249C"/>
              </a:solidFill>
              <a:prstDash val="solid"/>
              <a:round/>
            </a:ln>
          </a:top>
          <a:bottom>
            <a:ln w="12700" cap="flat">
              <a:solidFill>
                <a:srgbClr val="00249C"/>
              </a:solidFill>
              <a:prstDash val="solid"/>
              <a:round/>
            </a:ln>
          </a:bottom>
          <a:insideH>
            <a:ln w="12700" cap="flat">
              <a:solidFill>
                <a:srgbClr val="00249C"/>
              </a:solidFill>
              <a:prstDash val="solid"/>
              <a:round/>
            </a:ln>
          </a:insideH>
          <a:insideV>
            <a:ln w="12700" cap="flat">
              <a:solidFill>
                <a:srgbClr val="00249C"/>
              </a:solidFill>
              <a:prstDash val="solid"/>
              <a:round/>
            </a:ln>
          </a:insideV>
        </a:tcBdr>
        <a:fill>
          <a:noFill/>
        </a:fill>
      </a:tcStyle>
    </a:firstCol>
    <a:lastRow>
      <a:tcTxStyle b="off" i="off">
        <a:fontRef idx="major">
          <a:srgbClr val="00249C"/>
        </a:fontRef>
        <a:srgbClr val="00249C"/>
      </a:tcTxStyle>
      <a:tcStyle>
        <a:tcBdr>
          <a:left>
            <a:ln w="12700" cap="flat">
              <a:solidFill>
                <a:srgbClr val="00249C"/>
              </a:solidFill>
              <a:prstDash val="solid"/>
              <a:round/>
            </a:ln>
          </a:left>
          <a:right>
            <a:ln w="12700" cap="flat">
              <a:solidFill>
                <a:srgbClr val="00249C"/>
              </a:solidFill>
              <a:prstDash val="solid"/>
              <a:round/>
            </a:ln>
          </a:right>
          <a:top>
            <a:ln w="12700" cap="flat">
              <a:solidFill>
                <a:srgbClr val="00249C"/>
              </a:solidFill>
              <a:prstDash val="solid"/>
              <a:round/>
            </a:ln>
          </a:top>
          <a:bottom>
            <a:ln w="12700" cap="flat">
              <a:solidFill>
                <a:srgbClr val="00249C"/>
              </a:solidFill>
              <a:prstDash val="solid"/>
              <a:round/>
            </a:ln>
          </a:bottom>
          <a:insideH>
            <a:ln w="12700" cap="flat">
              <a:solidFill>
                <a:srgbClr val="00249C"/>
              </a:solidFill>
              <a:prstDash val="solid"/>
              <a:round/>
            </a:ln>
          </a:insideH>
          <a:insideV>
            <a:ln w="12700" cap="flat">
              <a:solidFill>
                <a:srgbClr val="00249C"/>
              </a:solidFill>
              <a:prstDash val="solid"/>
              <a:round/>
            </a:ln>
          </a:insideV>
        </a:tcBdr>
        <a:fill>
          <a:noFill/>
        </a:fill>
      </a:tcStyle>
    </a:lastRow>
    <a:firstRow>
      <a:tcTxStyle b="off" i="off">
        <a:fontRef idx="major">
          <a:srgbClr val="00249C"/>
        </a:fontRef>
        <a:srgbClr val="00249C"/>
      </a:tcTxStyle>
      <a:tcStyle>
        <a:tcBdr>
          <a:left>
            <a:ln w="12700" cap="flat">
              <a:solidFill>
                <a:srgbClr val="00249C"/>
              </a:solidFill>
              <a:prstDash val="solid"/>
              <a:round/>
            </a:ln>
          </a:left>
          <a:right>
            <a:ln w="12700" cap="flat">
              <a:solidFill>
                <a:srgbClr val="00249C"/>
              </a:solidFill>
              <a:prstDash val="solid"/>
              <a:round/>
            </a:ln>
          </a:right>
          <a:top>
            <a:ln w="12700" cap="flat">
              <a:solidFill>
                <a:srgbClr val="00249C"/>
              </a:solidFill>
              <a:prstDash val="solid"/>
              <a:round/>
            </a:ln>
          </a:top>
          <a:bottom>
            <a:ln w="12700" cap="flat">
              <a:solidFill>
                <a:srgbClr val="00249C"/>
              </a:solidFill>
              <a:prstDash val="solid"/>
              <a:round/>
            </a:ln>
          </a:bottom>
          <a:insideH>
            <a:ln w="12700" cap="flat">
              <a:solidFill>
                <a:srgbClr val="00249C"/>
              </a:solidFill>
              <a:prstDash val="solid"/>
              <a:round/>
            </a:ln>
          </a:insideH>
          <a:insideV>
            <a:ln w="12700" cap="flat">
              <a:solidFill>
                <a:srgbClr val="00249C"/>
              </a:solidFill>
              <a:prstDash val="solid"/>
              <a:round/>
            </a:ln>
          </a:insideV>
        </a:tcBdr>
        <a:fill>
          <a:noFill/>
        </a:fill>
      </a:tcStyle>
    </a:firstRow>
  </a:tblStyle>
  <a:tblStyle styleId="{C7B018BB-80A7-4F77-B60F-C8B233D01FF8}"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6CBE6"/>
          </a:solidFill>
        </a:fill>
      </a:tcStyle>
    </a:wholeTbl>
    <a:band2H>
      <a:tcTxStyle/>
      <a:tcStyle>
        <a:tcBdr/>
        <a:fill>
          <a:solidFill>
            <a:srgbClr val="F3E7F3"/>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4F5F4"/>
          </a:solidFill>
        </a:fill>
      </a:tcStyle>
    </a:wholeTbl>
    <a:band2H>
      <a:tcTxStyle/>
      <a:tcStyle>
        <a:tcBdr/>
        <a:fill>
          <a:solidFill>
            <a:srgbClr val="F2FA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BCB"/>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FFFFFF"/>
        </a:fontRef>
        <a:srgbClr val="FFFFFF"/>
      </a:tcTxStyle>
      <a:tcStyle>
        <a:tcBdr>
          <a:left>
            <a:ln w="12700" cap="flat">
              <a:noFill/>
              <a:miter lim="400000"/>
            </a:ln>
          </a:left>
          <a:right>
            <a:ln w="12700" cap="flat">
              <a:noFill/>
              <a:miter lim="400000"/>
            </a:ln>
          </a:right>
          <a:top>
            <a:ln w="50800" cap="flat">
              <a:solidFill>
                <a:srgbClr val="FFFFFF"/>
              </a:solidFill>
              <a:prstDash val="solid"/>
              <a:round/>
            </a:ln>
          </a:top>
          <a:bottom>
            <a:ln w="25400" cap="flat">
              <a:solidFill>
                <a:srgbClr val="FFFFFF"/>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round/>
            </a:ln>
          </a:top>
          <a:bottom>
            <a:ln w="25400" cap="flat">
              <a:solidFill>
                <a:srgbClr val="FFFFF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0" name="Shape 140"/>
          <p:cNvSpPr>
            <a:spLocks noGrp="1" noRot="1" noChangeAspect="1"/>
          </p:cNvSpPr>
          <p:nvPr>
            <p:ph type="sldImg"/>
          </p:nvPr>
        </p:nvSpPr>
        <p:spPr>
          <a:xfrm>
            <a:off x="1143000" y="685800"/>
            <a:ext cx="4572000" cy="3429000"/>
          </a:xfrm>
          <a:prstGeom prst="rect">
            <a:avLst/>
          </a:prstGeom>
        </p:spPr>
        <p:txBody>
          <a:bodyPr/>
          <a:lstStyle/>
          <a:p>
            <a:endParaRPr/>
          </a:p>
        </p:txBody>
      </p:sp>
      <p:sp>
        <p:nvSpPr>
          <p:cNvPr id="141" name="Shape 141"/>
          <p:cNvSpPr>
            <a:spLocks noGrp="1"/>
          </p:cNvSpPr>
          <p:nvPr>
            <p:ph type="body" sz="quarter" idx="1"/>
          </p:nvPr>
        </p:nvSpPr>
        <p:spPr>
          <a:xfrm>
            <a:off x="914400" y="4343400"/>
            <a:ext cx="5029200" cy="4114800"/>
          </a:xfrm>
          <a:prstGeom prst="rect">
            <a:avLst/>
          </a:prstGeom>
        </p:spPr>
        <p:txBody>
          <a:bodyPr/>
          <a:lstStyle/>
          <a:p>
            <a:endParaRPr/>
          </a:p>
        </p:txBody>
      </p:sp>
    </p:spTree>
  </p:cSld>
  <p:clrMap bg1="dk1" tx1="lt1" bg2="dk2" tx2="lt2" accent1="accent1" accent2="accent2" accent3="accent3" accent4="accent4" accent5="accent5" accent6="accent6" hlink="hlink" folHlink="folHlink"/>
  <p:notesStyle>
    <a:lvl1pPr latinLnBrk="0">
      <a:defRPr sz="1200">
        <a:solidFill>
          <a:srgbClr val="00249C"/>
        </a:solidFill>
        <a:latin typeface="+mj-lt"/>
        <a:ea typeface="+mj-ea"/>
        <a:cs typeface="+mj-cs"/>
        <a:sym typeface="Arial"/>
      </a:defRPr>
    </a:lvl1pPr>
    <a:lvl2pPr indent="228600" latinLnBrk="0">
      <a:defRPr sz="1200">
        <a:solidFill>
          <a:srgbClr val="00249C"/>
        </a:solidFill>
        <a:latin typeface="+mj-lt"/>
        <a:ea typeface="+mj-ea"/>
        <a:cs typeface="+mj-cs"/>
        <a:sym typeface="Arial"/>
      </a:defRPr>
    </a:lvl2pPr>
    <a:lvl3pPr indent="457200" latinLnBrk="0">
      <a:defRPr sz="1200">
        <a:solidFill>
          <a:srgbClr val="00249C"/>
        </a:solidFill>
        <a:latin typeface="+mj-lt"/>
        <a:ea typeface="+mj-ea"/>
        <a:cs typeface="+mj-cs"/>
        <a:sym typeface="Arial"/>
      </a:defRPr>
    </a:lvl3pPr>
    <a:lvl4pPr indent="685800" latinLnBrk="0">
      <a:defRPr sz="1200">
        <a:solidFill>
          <a:srgbClr val="00249C"/>
        </a:solidFill>
        <a:latin typeface="+mj-lt"/>
        <a:ea typeface="+mj-ea"/>
        <a:cs typeface="+mj-cs"/>
        <a:sym typeface="Arial"/>
      </a:defRPr>
    </a:lvl4pPr>
    <a:lvl5pPr indent="914400" latinLnBrk="0">
      <a:defRPr sz="1200">
        <a:solidFill>
          <a:srgbClr val="00249C"/>
        </a:solidFill>
        <a:latin typeface="+mj-lt"/>
        <a:ea typeface="+mj-ea"/>
        <a:cs typeface="+mj-cs"/>
        <a:sym typeface="Arial"/>
      </a:defRPr>
    </a:lvl5pPr>
    <a:lvl6pPr indent="1143000" latinLnBrk="0">
      <a:defRPr sz="1200">
        <a:solidFill>
          <a:srgbClr val="00249C"/>
        </a:solidFill>
        <a:latin typeface="+mj-lt"/>
        <a:ea typeface="+mj-ea"/>
        <a:cs typeface="+mj-cs"/>
        <a:sym typeface="Arial"/>
      </a:defRPr>
    </a:lvl6pPr>
    <a:lvl7pPr indent="1371600" latinLnBrk="0">
      <a:defRPr sz="1200">
        <a:solidFill>
          <a:srgbClr val="00249C"/>
        </a:solidFill>
        <a:latin typeface="+mj-lt"/>
        <a:ea typeface="+mj-ea"/>
        <a:cs typeface="+mj-cs"/>
        <a:sym typeface="Arial"/>
      </a:defRPr>
    </a:lvl7pPr>
    <a:lvl8pPr indent="1600200" latinLnBrk="0">
      <a:defRPr sz="1200">
        <a:solidFill>
          <a:srgbClr val="00249C"/>
        </a:solidFill>
        <a:latin typeface="+mj-lt"/>
        <a:ea typeface="+mj-ea"/>
        <a:cs typeface="+mj-cs"/>
        <a:sym typeface="Arial"/>
      </a:defRPr>
    </a:lvl8pPr>
    <a:lvl9pPr indent="1828800" latinLnBrk="0">
      <a:defRPr sz="1200">
        <a:solidFill>
          <a:srgbClr val="00249C"/>
        </a:solidFill>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vider Slides for Sessions">
    <p:spTree>
      <p:nvGrpSpPr>
        <p:cNvPr id="1" name=""/>
        <p:cNvGrpSpPr/>
        <p:nvPr/>
      </p:nvGrpSpPr>
      <p:grpSpPr>
        <a:xfrm>
          <a:off x="0" y="0"/>
          <a:ext cx="0" cy="0"/>
          <a:chOff x="0" y="0"/>
          <a:chExt cx="0" cy="0"/>
        </a:xfrm>
      </p:grpSpPr>
      <p:sp>
        <p:nvSpPr>
          <p:cNvPr id="13" name="Click to Session title style"/>
          <p:cNvSpPr txBox="1">
            <a:spLocks noGrp="1"/>
          </p:cNvSpPr>
          <p:nvPr>
            <p:ph type="title" hasCustomPrompt="1"/>
          </p:nvPr>
        </p:nvSpPr>
        <p:spPr>
          <a:xfrm>
            <a:off x="957271" y="3713060"/>
            <a:ext cx="9144003" cy="1006478"/>
          </a:xfrm>
          <a:prstGeom prst="rect">
            <a:avLst/>
          </a:prstGeom>
        </p:spPr>
        <p:txBody>
          <a:bodyPr anchor="t"/>
          <a:lstStyle>
            <a:lvl1pPr>
              <a:defRPr sz="4500"/>
            </a:lvl1pPr>
          </a:lstStyle>
          <a:p>
            <a:r>
              <a:t>Click to Session title style</a:t>
            </a:r>
          </a:p>
        </p:txBody>
      </p:sp>
      <p:pic>
        <p:nvPicPr>
          <p:cNvPr id="14" name="Graphic 24" descr="Graphic 24"/>
          <p:cNvPicPr>
            <a:picLocks noChangeAspect="1"/>
          </p:cNvPicPr>
          <p:nvPr/>
        </p:nvPicPr>
        <p:blipFill>
          <a:blip r:embed="rId2"/>
          <a:stretch>
            <a:fillRect/>
          </a:stretch>
        </p:blipFill>
        <p:spPr>
          <a:xfrm>
            <a:off x="288949" y="2048"/>
            <a:ext cx="236194" cy="6858004"/>
          </a:xfrm>
          <a:prstGeom prst="rect">
            <a:avLst/>
          </a:prstGeom>
          <a:ln w="12700">
            <a:miter lim="400000"/>
          </a:ln>
        </p:spPr>
      </p:pic>
      <p:pic>
        <p:nvPicPr>
          <p:cNvPr id="15" name="Graphic 25" descr="Graphic 25"/>
          <p:cNvPicPr>
            <a:picLocks noChangeAspect="1"/>
          </p:cNvPicPr>
          <p:nvPr/>
        </p:nvPicPr>
        <p:blipFill>
          <a:blip r:embed="rId3"/>
          <a:stretch>
            <a:fillRect/>
          </a:stretch>
        </p:blipFill>
        <p:spPr>
          <a:xfrm>
            <a:off x="250205" y="250602"/>
            <a:ext cx="313682" cy="329299"/>
          </a:xfrm>
          <a:prstGeom prst="rect">
            <a:avLst/>
          </a:prstGeom>
          <a:ln w="12700">
            <a:miter lim="400000"/>
          </a:ln>
        </p:spPr>
      </p:pic>
      <p:sp>
        <p:nvSpPr>
          <p:cNvPr id="16" name="Body Level One…"/>
          <p:cNvSpPr txBox="1">
            <a:spLocks noGrp="1"/>
          </p:cNvSpPr>
          <p:nvPr>
            <p:ph type="body" sz="quarter" idx="1" hasCustomPrompt="1"/>
          </p:nvPr>
        </p:nvSpPr>
        <p:spPr>
          <a:xfrm>
            <a:off x="957262" y="2962275"/>
            <a:ext cx="8056565" cy="395290"/>
          </a:xfrm>
          <a:prstGeom prst="rect">
            <a:avLst/>
          </a:prstGeom>
        </p:spPr>
        <p:txBody>
          <a:bodyPr/>
          <a:lstStyle>
            <a:lvl1pPr marL="0" indent="0">
              <a:buSzTx/>
              <a:buFontTx/>
              <a:buNone/>
              <a:defRPr sz="2500">
                <a:solidFill>
                  <a:schemeClr val="accent6"/>
                </a:solidFill>
              </a:defRPr>
            </a:lvl1pPr>
            <a:lvl2pPr marL="695325" indent="-238125">
              <a:buFontTx/>
              <a:defRPr sz="2500">
                <a:solidFill>
                  <a:schemeClr val="accent6"/>
                </a:solidFill>
              </a:defRPr>
            </a:lvl2pPr>
            <a:lvl3pPr marL="1200150" indent="-285750">
              <a:buFontTx/>
              <a:defRPr sz="2500">
                <a:solidFill>
                  <a:schemeClr val="accent6"/>
                </a:solidFill>
              </a:defRPr>
            </a:lvl3pPr>
            <a:lvl4pPr marL="1689100" indent="-317500">
              <a:buFontTx/>
              <a:defRPr sz="2500">
                <a:solidFill>
                  <a:schemeClr val="accent6"/>
                </a:solidFill>
              </a:defRPr>
            </a:lvl4pPr>
            <a:lvl5pPr marL="2146300" indent="-317500">
              <a:buFontTx/>
              <a:defRPr sz="2500">
                <a:solidFill>
                  <a:schemeClr val="accent6"/>
                </a:solidFill>
              </a:defRPr>
            </a:lvl5pPr>
          </a:lstStyle>
          <a:p>
            <a:r>
              <a:t>Click to edit Session Details</a:t>
            </a:r>
          </a:p>
          <a:p>
            <a:pPr lvl="1"/>
            <a:endParaRPr/>
          </a:p>
          <a:p>
            <a:pPr lvl="2"/>
            <a:endParaRPr/>
          </a:p>
          <a:p>
            <a:pPr lvl="3"/>
            <a:endParaRPr/>
          </a:p>
          <a:p>
            <a:pPr lvl="4"/>
            <a:endParaRPr/>
          </a:p>
        </p:txBody>
      </p:sp>
      <p:pic>
        <p:nvPicPr>
          <p:cNvPr id="17" name="Picture 1" descr="Picture 1"/>
          <p:cNvPicPr>
            <a:picLocks noChangeAspect="1"/>
          </p:cNvPicPr>
          <p:nvPr/>
        </p:nvPicPr>
        <p:blipFill>
          <a:blip r:embed="rId4"/>
          <a:stretch>
            <a:fillRect/>
          </a:stretch>
        </p:blipFill>
        <p:spPr>
          <a:xfrm>
            <a:off x="9544301" y="9376"/>
            <a:ext cx="2593006" cy="811751"/>
          </a:xfrm>
          <a:prstGeom prst="rect">
            <a:avLst/>
          </a:prstGeom>
          <a:ln w="12700">
            <a:miter lim="400000"/>
          </a:ln>
        </p:spPr>
      </p:pic>
      <p:sp>
        <p:nvSpPr>
          <p:cNvPr id="18" name="Slide Number"/>
          <p:cNvSpPr txBox="1">
            <a:spLocks noGrp="1"/>
          </p:cNvSpPr>
          <p:nvPr>
            <p:ph type="sldNum" sz="quarter" idx="2"/>
          </p:nvPr>
        </p:nvSpPr>
        <p:spPr>
          <a:xfrm>
            <a:off x="8737600" y="6221732"/>
            <a:ext cx="270526" cy="269237"/>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Custom Layout">
    <p:spTree>
      <p:nvGrpSpPr>
        <p:cNvPr id="1" name=""/>
        <p:cNvGrpSpPr/>
        <p:nvPr/>
      </p:nvGrpSpPr>
      <p:grpSpPr>
        <a:xfrm>
          <a:off x="0" y="0"/>
          <a:ext cx="0" cy="0"/>
          <a:chOff x="0" y="0"/>
          <a:chExt cx="0" cy="0"/>
        </a:xfrm>
      </p:grpSpPr>
      <p:pic>
        <p:nvPicPr>
          <p:cNvPr id="25" name="Graphic 5" descr="Graphic 5"/>
          <p:cNvPicPr>
            <a:picLocks noChangeAspect="1"/>
          </p:cNvPicPr>
          <p:nvPr/>
        </p:nvPicPr>
        <p:blipFill>
          <a:blip r:embed="rId2"/>
          <a:stretch>
            <a:fillRect/>
          </a:stretch>
        </p:blipFill>
        <p:spPr>
          <a:xfrm>
            <a:off x="862694" y="517072"/>
            <a:ext cx="2990852" cy="512720"/>
          </a:xfrm>
          <a:prstGeom prst="rect">
            <a:avLst/>
          </a:prstGeom>
          <a:ln w="12700">
            <a:miter lim="400000"/>
          </a:ln>
        </p:spPr>
      </p:pic>
      <p:pic>
        <p:nvPicPr>
          <p:cNvPr id="26" name="Graphic 7" descr="Graphic 7"/>
          <p:cNvPicPr>
            <a:picLocks noChangeAspect="1"/>
          </p:cNvPicPr>
          <p:nvPr/>
        </p:nvPicPr>
        <p:blipFill>
          <a:blip r:embed="rId3"/>
          <a:stretch>
            <a:fillRect/>
          </a:stretch>
        </p:blipFill>
        <p:spPr>
          <a:xfrm>
            <a:off x="4110266" y="466600"/>
            <a:ext cx="4241805" cy="1850970"/>
          </a:xfrm>
          <a:prstGeom prst="rect">
            <a:avLst/>
          </a:prstGeom>
          <a:ln w="12700">
            <a:miter lim="400000"/>
          </a:ln>
        </p:spPr>
      </p:pic>
      <p:pic>
        <p:nvPicPr>
          <p:cNvPr id="27" name="Graphic 9" descr="Graphic 9"/>
          <p:cNvPicPr>
            <a:picLocks noChangeAspect="1"/>
          </p:cNvPicPr>
          <p:nvPr/>
        </p:nvPicPr>
        <p:blipFill>
          <a:blip r:embed="rId4"/>
          <a:stretch>
            <a:fillRect/>
          </a:stretch>
        </p:blipFill>
        <p:spPr>
          <a:xfrm>
            <a:off x="10363199" y="466600"/>
            <a:ext cx="1128489" cy="321038"/>
          </a:xfrm>
          <a:prstGeom prst="rect">
            <a:avLst/>
          </a:prstGeom>
          <a:ln w="12700">
            <a:miter lim="400000"/>
          </a:ln>
        </p:spPr>
      </p:pic>
      <p:pic>
        <p:nvPicPr>
          <p:cNvPr id="28" name="Graphic 11" descr="Graphic 11"/>
          <p:cNvPicPr>
            <a:picLocks noChangeAspect="1"/>
          </p:cNvPicPr>
          <p:nvPr/>
        </p:nvPicPr>
        <p:blipFill>
          <a:blip r:embed="rId5"/>
          <a:stretch>
            <a:fillRect/>
          </a:stretch>
        </p:blipFill>
        <p:spPr>
          <a:xfrm>
            <a:off x="5763986" y="2454729"/>
            <a:ext cx="3336474" cy="175607"/>
          </a:xfrm>
          <a:prstGeom prst="rect">
            <a:avLst/>
          </a:prstGeom>
          <a:ln w="12700">
            <a:miter lim="400000"/>
          </a:ln>
        </p:spPr>
      </p:pic>
      <p:pic>
        <p:nvPicPr>
          <p:cNvPr id="29" name="Graphic 13" descr="Graphic 13"/>
          <p:cNvPicPr>
            <a:picLocks noChangeAspect="1"/>
          </p:cNvPicPr>
          <p:nvPr/>
        </p:nvPicPr>
        <p:blipFill>
          <a:blip r:embed="rId6"/>
          <a:stretch>
            <a:fillRect/>
          </a:stretch>
        </p:blipFill>
        <p:spPr>
          <a:xfrm>
            <a:off x="950684" y="5549424"/>
            <a:ext cx="4165604" cy="538414"/>
          </a:xfrm>
          <a:prstGeom prst="rect">
            <a:avLst/>
          </a:prstGeom>
          <a:ln w="12700">
            <a:miter lim="400000"/>
          </a:ln>
        </p:spPr>
      </p:pic>
      <p:pic>
        <p:nvPicPr>
          <p:cNvPr id="30" name="Graphic 15" descr="Graphic 15"/>
          <p:cNvPicPr>
            <a:picLocks noChangeAspect="1"/>
          </p:cNvPicPr>
          <p:nvPr/>
        </p:nvPicPr>
        <p:blipFill>
          <a:blip r:embed="rId7"/>
          <a:stretch>
            <a:fillRect/>
          </a:stretch>
        </p:blipFill>
        <p:spPr>
          <a:xfrm>
            <a:off x="10091056" y="5800321"/>
            <a:ext cx="1833339" cy="491624"/>
          </a:xfrm>
          <a:prstGeom prst="rect">
            <a:avLst/>
          </a:prstGeom>
          <a:ln w="12700">
            <a:miter lim="400000"/>
          </a:ln>
        </p:spPr>
      </p:pic>
      <p:grpSp>
        <p:nvGrpSpPr>
          <p:cNvPr id="33" name="Picture 1"/>
          <p:cNvGrpSpPr/>
          <p:nvPr/>
        </p:nvGrpSpPr>
        <p:grpSpPr>
          <a:xfrm>
            <a:off x="-2" y="-3272"/>
            <a:ext cx="12192007" cy="6886125"/>
            <a:chOff x="-1" y="0"/>
            <a:chExt cx="12192005" cy="6886124"/>
          </a:xfrm>
        </p:grpSpPr>
        <p:sp>
          <p:nvSpPr>
            <p:cNvPr id="31" name="Rectangle"/>
            <p:cNvSpPr/>
            <p:nvPr/>
          </p:nvSpPr>
          <p:spPr>
            <a:xfrm>
              <a:off x="-1" y="0"/>
              <a:ext cx="12192005" cy="6886125"/>
            </a:xfrm>
            <a:prstGeom prst="rect">
              <a:avLst/>
            </a:prstGeom>
            <a:solidFill>
              <a:srgbClr val="55FDEC"/>
            </a:solidFill>
            <a:ln w="12700" cap="flat">
              <a:noFill/>
              <a:miter lim="400000"/>
            </a:ln>
            <a:effectLst/>
          </p:spPr>
          <p:txBody>
            <a:bodyPr wrap="square" lIns="45718" tIns="45718" rIns="45718" bIns="45718" numCol="1" anchor="ctr">
              <a:noAutofit/>
            </a:bodyPr>
            <a:lstStyle/>
            <a:p>
              <a:pPr>
                <a:defRPr>
                  <a:solidFill>
                    <a:srgbClr val="00249C"/>
                  </a:solidFill>
                  <a:latin typeface="+mj-lt"/>
                  <a:ea typeface="+mj-ea"/>
                  <a:cs typeface="+mj-cs"/>
                  <a:sym typeface="Arial"/>
                </a:defRPr>
              </a:pPr>
              <a:endParaRPr/>
            </a:p>
          </p:txBody>
        </p:sp>
        <p:pic>
          <p:nvPicPr>
            <p:cNvPr id="32" name="image18.png" descr="image18.png"/>
            <p:cNvPicPr>
              <a:picLocks noChangeAspect="1"/>
            </p:cNvPicPr>
            <p:nvPr/>
          </p:nvPicPr>
          <p:blipFill>
            <a:blip r:embed="rId8"/>
            <a:stretch>
              <a:fillRect/>
            </a:stretch>
          </p:blipFill>
          <p:spPr>
            <a:xfrm>
              <a:off x="-2" y="0"/>
              <a:ext cx="12192007" cy="6886125"/>
            </a:xfrm>
            <a:prstGeom prst="rect">
              <a:avLst/>
            </a:prstGeom>
            <a:ln w="12700" cap="flat">
              <a:noFill/>
              <a:miter lim="400000"/>
            </a:ln>
            <a:effectLst/>
          </p:spPr>
        </p:pic>
      </p:grpSp>
      <p:sp>
        <p:nvSpPr>
          <p:cNvPr id="34" name="TextBox 2"/>
          <p:cNvSpPr txBox="1"/>
          <p:nvPr/>
        </p:nvSpPr>
        <p:spPr>
          <a:xfrm>
            <a:off x="9661152" y="5440214"/>
            <a:ext cx="2429304" cy="437065"/>
          </a:xfrm>
          <a:prstGeom prst="rect">
            <a:avLst/>
          </a:prstGeom>
          <a:solidFill>
            <a:srgbClr val="54FCEB"/>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ctr">
              <a:defRPr sz="2400">
                <a:solidFill>
                  <a:srgbClr val="01202C"/>
                </a:solidFill>
                <a:latin typeface="+mj-lt"/>
                <a:ea typeface="+mj-ea"/>
                <a:cs typeface="+mj-cs"/>
                <a:sym typeface="Arial"/>
              </a:defRPr>
            </a:lvl1pPr>
          </a:lstStyle>
          <a:p>
            <a:r>
              <a:t>Presentation</a:t>
            </a:r>
          </a:p>
        </p:txBody>
      </p:sp>
      <p:sp>
        <p:nvSpPr>
          <p:cNvPr id="35" name="Slide Number"/>
          <p:cNvSpPr txBox="1">
            <a:spLocks noGrp="1"/>
          </p:cNvSpPr>
          <p:nvPr>
            <p:ph type="sldNum" sz="quarter" idx="2"/>
          </p:nvPr>
        </p:nvSpPr>
        <p:spPr>
          <a:xfrm>
            <a:off x="8737600" y="6221732"/>
            <a:ext cx="270526" cy="269237"/>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1_Custom Layout">
    <p:spTree>
      <p:nvGrpSpPr>
        <p:cNvPr id="1" name=""/>
        <p:cNvGrpSpPr/>
        <p:nvPr/>
      </p:nvGrpSpPr>
      <p:grpSpPr>
        <a:xfrm>
          <a:off x="0" y="0"/>
          <a:ext cx="0" cy="0"/>
          <a:chOff x="0" y="0"/>
          <a:chExt cx="0" cy="0"/>
        </a:xfrm>
      </p:grpSpPr>
      <p:sp>
        <p:nvSpPr>
          <p:cNvPr id="42" name="Rectangle 9"/>
          <p:cNvSpPr/>
          <p:nvPr/>
        </p:nvSpPr>
        <p:spPr>
          <a:xfrm>
            <a:off x="0" y="2812869"/>
            <a:ext cx="12192000" cy="3396342"/>
          </a:xfrm>
          <a:prstGeom prst="rect">
            <a:avLst/>
          </a:prstGeom>
          <a:gradFill>
            <a:gsLst>
              <a:gs pos="0">
                <a:srgbClr val="1A7459"/>
              </a:gs>
              <a:gs pos="1000">
                <a:srgbClr val="37767B"/>
              </a:gs>
              <a:gs pos="88000">
                <a:srgbClr val="27AE86"/>
              </a:gs>
              <a:gs pos="100000">
                <a:srgbClr val="90E6CD"/>
              </a:gs>
            </a:gsLst>
          </a:gradFill>
          <a:ln w="12700">
            <a:miter lim="400000"/>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43" name="Body Level One…"/>
          <p:cNvSpPr txBox="1">
            <a:spLocks noGrp="1"/>
          </p:cNvSpPr>
          <p:nvPr>
            <p:ph type="body" sz="quarter" idx="1" hasCustomPrompt="1"/>
          </p:nvPr>
        </p:nvSpPr>
        <p:spPr>
          <a:xfrm>
            <a:off x="1833122" y="5014633"/>
            <a:ext cx="6971081" cy="698502"/>
          </a:xfrm>
          <a:prstGeom prst="rect">
            <a:avLst/>
          </a:prstGeom>
        </p:spPr>
        <p:txBody>
          <a:bodyPr/>
          <a:lstStyle>
            <a:lvl1pPr marL="0" indent="0">
              <a:buSzTx/>
              <a:buFontTx/>
              <a:buNone/>
              <a:defRPr sz="2000">
                <a:solidFill>
                  <a:srgbClr val="DAF7EE"/>
                </a:solidFill>
              </a:defRPr>
            </a:lvl1pPr>
            <a:lvl2pPr marL="0" indent="0">
              <a:buSzTx/>
              <a:buFontTx/>
              <a:buNone/>
              <a:defRPr sz="2000">
                <a:solidFill>
                  <a:srgbClr val="DAF7EE"/>
                </a:solidFill>
              </a:defRPr>
            </a:lvl2pPr>
            <a:lvl3pPr marL="0" indent="0">
              <a:buSzTx/>
              <a:buFontTx/>
              <a:buNone/>
              <a:defRPr sz="2000">
                <a:solidFill>
                  <a:srgbClr val="DAF7EE"/>
                </a:solidFill>
              </a:defRPr>
            </a:lvl3pPr>
            <a:lvl4pPr marL="0" indent="0">
              <a:buSzTx/>
              <a:buFontTx/>
              <a:buNone/>
              <a:defRPr sz="2000">
                <a:solidFill>
                  <a:srgbClr val="DAF7EE"/>
                </a:solidFill>
              </a:defRPr>
            </a:lvl4pPr>
            <a:lvl5pPr marL="0" indent="0">
              <a:buSzTx/>
              <a:buFontTx/>
              <a:buNone/>
              <a:defRPr sz="2000">
                <a:solidFill>
                  <a:srgbClr val="DAF7EE"/>
                </a:solidFill>
              </a:defRPr>
            </a:lvl5pPr>
          </a:lstStyle>
          <a:p>
            <a:r>
              <a:t>Click to edit subtitle</a:t>
            </a:r>
          </a:p>
          <a:p>
            <a:pPr lvl="1"/>
            <a:endParaRPr/>
          </a:p>
          <a:p>
            <a:pPr lvl="2"/>
            <a:endParaRPr/>
          </a:p>
          <a:p>
            <a:pPr lvl="3"/>
            <a:endParaRPr/>
          </a:p>
          <a:p>
            <a:pPr lvl="4"/>
            <a:endParaRPr/>
          </a:p>
        </p:txBody>
      </p:sp>
      <p:sp>
        <p:nvSpPr>
          <p:cNvPr id="44" name="Click to edit master title style"/>
          <p:cNvSpPr txBox="1">
            <a:spLocks noGrp="1"/>
          </p:cNvSpPr>
          <p:nvPr>
            <p:ph type="title" hasCustomPrompt="1"/>
          </p:nvPr>
        </p:nvSpPr>
        <p:spPr>
          <a:xfrm>
            <a:off x="1833122" y="3516419"/>
            <a:ext cx="5298025" cy="1498217"/>
          </a:xfrm>
          <a:prstGeom prst="rect">
            <a:avLst/>
          </a:prstGeom>
        </p:spPr>
        <p:txBody>
          <a:bodyPr/>
          <a:lstStyle>
            <a:lvl1pPr>
              <a:defRPr>
                <a:solidFill>
                  <a:srgbClr val="FFFFFF"/>
                </a:solidFill>
              </a:defRPr>
            </a:lvl1pPr>
          </a:lstStyle>
          <a:p>
            <a:r>
              <a:t>Click to edit master title style</a:t>
            </a:r>
          </a:p>
        </p:txBody>
      </p:sp>
      <p:pic>
        <p:nvPicPr>
          <p:cNvPr id="45" name="Graphic 2" descr="Graphic 2"/>
          <p:cNvPicPr>
            <a:picLocks noChangeAspect="1"/>
          </p:cNvPicPr>
          <p:nvPr/>
        </p:nvPicPr>
        <p:blipFill>
          <a:blip r:embed="rId2"/>
          <a:stretch>
            <a:fillRect/>
          </a:stretch>
        </p:blipFill>
        <p:spPr>
          <a:xfrm>
            <a:off x="842553" y="557711"/>
            <a:ext cx="457204" cy="482603"/>
          </a:xfrm>
          <a:prstGeom prst="rect">
            <a:avLst/>
          </a:prstGeom>
          <a:ln w="12700">
            <a:miter lim="400000"/>
          </a:ln>
        </p:spPr>
      </p:pic>
      <p:pic>
        <p:nvPicPr>
          <p:cNvPr id="46" name="Graphic 4" descr="Graphic 4"/>
          <p:cNvPicPr>
            <a:picLocks noChangeAspect="1"/>
          </p:cNvPicPr>
          <p:nvPr/>
        </p:nvPicPr>
        <p:blipFill>
          <a:blip r:embed="rId3"/>
          <a:stretch>
            <a:fillRect/>
          </a:stretch>
        </p:blipFill>
        <p:spPr>
          <a:xfrm>
            <a:off x="10594826" y="497115"/>
            <a:ext cx="1073755" cy="303892"/>
          </a:xfrm>
          <a:prstGeom prst="rect">
            <a:avLst/>
          </a:prstGeom>
          <a:ln w="12700">
            <a:miter lim="400000"/>
          </a:ln>
        </p:spPr>
      </p:pic>
      <p:pic>
        <p:nvPicPr>
          <p:cNvPr id="47" name="Picture 1" descr="Picture 1"/>
          <p:cNvPicPr>
            <a:picLocks noChangeAspect="1"/>
          </p:cNvPicPr>
          <p:nvPr/>
        </p:nvPicPr>
        <p:blipFill>
          <a:blip r:embed="rId4"/>
          <a:stretch>
            <a:fillRect/>
          </a:stretch>
        </p:blipFill>
        <p:spPr>
          <a:xfrm>
            <a:off x="5359791" y="0"/>
            <a:ext cx="6832211" cy="2138854"/>
          </a:xfrm>
          <a:prstGeom prst="rect">
            <a:avLst/>
          </a:prstGeom>
          <a:ln w="12700">
            <a:miter lim="400000"/>
          </a:ln>
        </p:spPr>
      </p:pic>
      <p:sp>
        <p:nvSpPr>
          <p:cNvPr id="48" name="Slide Number"/>
          <p:cNvSpPr txBox="1">
            <a:spLocks noGrp="1"/>
          </p:cNvSpPr>
          <p:nvPr>
            <p:ph type="sldNum" sz="quarter" idx="2"/>
          </p:nvPr>
        </p:nvSpPr>
        <p:spPr>
          <a:xfrm>
            <a:off x="8737600" y="6221732"/>
            <a:ext cx="270526" cy="269237"/>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4_Custom Layout">
    <p:spTree>
      <p:nvGrpSpPr>
        <p:cNvPr id="1" name=""/>
        <p:cNvGrpSpPr/>
        <p:nvPr/>
      </p:nvGrpSpPr>
      <p:grpSpPr>
        <a:xfrm>
          <a:off x="0" y="0"/>
          <a:ext cx="0" cy="0"/>
          <a:chOff x="0" y="0"/>
          <a:chExt cx="0" cy="0"/>
        </a:xfrm>
      </p:grpSpPr>
      <p:sp>
        <p:nvSpPr>
          <p:cNvPr id="55" name="Title Text"/>
          <p:cNvSpPr txBox="1">
            <a:spLocks noGrp="1"/>
          </p:cNvSpPr>
          <p:nvPr>
            <p:ph type="title"/>
          </p:nvPr>
        </p:nvSpPr>
        <p:spPr>
          <a:prstGeom prst="rect">
            <a:avLst/>
          </a:prstGeom>
        </p:spPr>
        <p:txBody>
          <a:bodyPr/>
          <a:lstStyle/>
          <a:p>
            <a:r>
              <a:t>Title Text</a:t>
            </a:r>
          </a:p>
        </p:txBody>
      </p:sp>
      <p:sp>
        <p:nvSpPr>
          <p:cNvPr id="56"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4_Custom Layout 0">
    <p:spTree>
      <p:nvGrpSpPr>
        <p:cNvPr id="1" name=""/>
        <p:cNvGrpSpPr/>
        <p:nvPr/>
      </p:nvGrpSpPr>
      <p:grpSpPr>
        <a:xfrm>
          <a:off x="0" y="0"/>
          <a:ext cx="0" cy="0"/>
          <a:chOff x="0" y="0"/>
          <a:chExt cx="0" cy="0"/>
        </a:xfrm>
      </p:grpSpPr>
      <p:sp>
        <p:nvSpPr>
          <p:cNvPr id="64" name="Title Text"/>
          <p:cNvSpPr txBox="1">
            <a:spLocks noGrp="1"/>
          </p:cNvSpPr>
          <p:nvPr>
            <p:ph type="title"/>
          </p:nvPr>
        </p:nvSpPr>
        <p:spPr>
          <a:prstGeom prst="rect">
            <a:avLst/>
          </a:prstGeom>
        </p:spPr>
        <p:txBody>
          <a:bodyPr/>
          <a:lstStyle/>
          <a:p>
            <a:r>
              <a:t>Title Text</a:t>
            </a:r>
          </a:p>
        </p:txBody>
      </p:sp>
      <p:sp>
        <p:nvSpPr>
          <p:cNvPr id="6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1_Content Slide  Option#2 with Graph /Data">
    <p:spTree>
      <p:nvGrpSpPr>
        <p:cNvPr id="1" name=""/>
        <p:cNvGrpSpPr/>
        <p:nvPr/>
      </p:nvGrpSpPr>
      <p:grpSpPr>
        <a:xfrm>
          <a:off x="0" y="0"/>
          <a:ext cx="0" cy="0"/>
          <a:chOff x="0" y="0"/>
          <a:chExt cx="0" cy="0"/>
        </a:xfrm>
      </p:grpSpPr>
      <p:sp>
        <p:nvSpPr>
          <p:cNvPr id="73" name="Click to Add Graph/Data"/>
          <p:cNvSpPr txBox="1">
            <a:spLocks noGrp="1"/>
          </p:cNvSpPr>
          <p:nvPr>
            <p:ph type="title" hasCustomPrompt="1"/>
          </p:nvPr>
        </p:nvSpPr>
        <p:spPr>
          <a:xfrm>
            <a:off x="563885" y="1058852"/>
            <a:ext cx="5874026" cy="557064"/>
          </a:xfrm>
          <a:prstGeom prst="rect">
            <a:avLst/>
          </a:prstGeom>
        </p:spPr>
        <p:txBody>
          <a:bodyPr anchor="t"/>
          <a:lstStyle>
            <a:lvl1pPr>
              <a:defRPr sz="3000"/>
            </a:lvl1pPr>
          </a:lstStyle>
          <a:p>
            <a:r>
              <a:t>Click to Add Graph/Data</a:t>
            </a:r>
          </a:p>
        </p:txBody>
      </p:sp>
      <p:pic>
        <p:nvPicPr>
          <p:cNvPr id="74" name="Graphic 11" descr="Graphic 11"/>
          <p:cNvPicPr>
            <a:picLocks noChangeAspect="1"/>
          </p:cNvPicPr>
          <p:nvPr/>
        </p:nvPicPr>
        <p:blipFill>
          <a:blip r:embed="rId2"/>
          <a:stretch>
            <a:fillRect/>
          </a:stretch>
        </p:blipFill>
        <p:spPr>
          <a:xfrm>
            <a:off x="288949" y="2048"/>
            <a:ext cx="236194" cy="6858004"/>
          </a:xfrm>
          <a:prstGeom prst="rect">
            <a:avLst/>
          </a:prstGeom>
          <a:ln w="12700">
            <a:miter lim="400000"/>
          </a:ln>
        </p:spPr>
      </p:pic>
      <p:pic>
        <p:nvPicPr>
          <p:cNvPr id="75" name="Graphic 12" descr="Graphic 12"/>
          <p:cNvPicPr>
            <a:picLocks noChangeAspect="1"/>
          </p:cNvPicPr>
          <p:nvPr/>
        </p:nvPicPr>
        <p:blipFill>
          <a:blip r:embed="rId3"/>
          <a:stretch>
            <a:fillRect/>
          </a:stretch>
        </p:blipFill>
        <p:spPr>
          <a:xfrm>
            <a:off x="250205" y="250602"/>
            <a:ext cx="313682" cy="329299"/>
          </a:xfrm>
          <a:prstGeom prst="rect">
            <a:avLst/>
          </a:prstGeom>
          <a:ln w="12700">
            <a:miter lim="400000"/>
          </a:ln>
        </p:spPr>
      </p:pic>
      <p:sp>
        <p:nvSpPr>
          <p:cNvPr id="76" name="Body Level One…"/>
          <p:cNvSpPr txBox="1">
            <a:spLocks noGrp="1"/>
          </p:cNvSpPr>
          <p:nvPr>
            <p:ph type="body" sz="quarter" idx="1" hasCustomPrompt="1"/>
          </p:nvPr>
        </p:nvSpPr>
        <p:spPr>
          <a:xfrm>
            <a:off x="563883" y="1975947"/>
            <a:ext cx="4092898" cy="3913064"/>
          </a:xfrm>
          <a:prstGeom prst="rect">
            <a:avLst/>
          </a:prstGeom>
        </p:spPr>
        <p:txBody>
          <a:bodyPr/>
          <a:lstStyle>
            <a:lvl1pPr marL="0" indent="0">
              <a:lnSpc>
                <a:spcPct val="95000"/>
              </a:lnSpc>
              <a:buSzTx/>
              <a:buFontTx/>
              <a:buNone/>
              <a:defRPr sz="2000"/>
            </a:lvl1pPr>
            <a:lvl2pPr marL="0" indent="0">
              <a:lnSpc>
                <a:spcPct val="95000"/>
              </a:lnSpc>
              <a:buSzTx/>
              <a:buFontTx/>
              <a:buNone/>
              <a:defRPr sz="2000"/>
            </a:lvl2pPr>
            <a:lvl3pPr marL="0" indent="0">
              <a:lnSpc>
                <a:spcPct val="95000"/>
              </a:lnSpc>
              <a:buSzTx/>
              <a:buFontTx/>
              <a:buNone/>
              <a:defRPr sz="2000"/>
            </a:lvl3pPr>
            <a:lvl4pPr marL="0" indent="0">
              <a:lnSpc>
                <a:spcPct val="95000"/>
              </a:lnSpc>
              <a:buSzTx/>
              <a:buFontTx/>
              <a:buNone/>
              <a:defRPr sz="2000"/>
            </a:lvl4pPr>
            <a:lvl5pPr marL="0" indent="0">
              <a:lnSpc>
                <a:spcPct val="95000"/>
              </a:lnSpc>
              <a:buSzTx/>
              <a:buFontTx/>
              <a:buNone/>
              <a:defRPr sz="2000"/>
            </a:lvl5pPr>
          </a:lstStyle>
          <a:p>
            <a:r>
              <a:t>Add your An analytical paragraph,  is a form of descriptive writing which is written on the basis of a given chart, graph, data, outline, clues, table etc.</a:t>
            </a:r>
          </a:p>
          <a:p>
            <a:pPr lvl="1"/>
            <a:endParaRPr/>
          </a:p>
          <a:p>
            <a:pPr lvl="2"/>
            <a:endParaRPr/>
          </a:p>
          <a:p>
            <a:pPr lvl="3"/>
            <a:endParaRPr/>
          </a:p>
          <a:p>
            <a:pPr lvl="4"/>
            <a:endParaRPr/>
          </a:p>
        </p:txBody>
      </p:sp>
      <p:pic>
        <p:nvPicPr>
          <p:cNvPr id="77" name="Picture 1" descr="Picture 1"/>
          <p:cNvPicPr>
            <a:picLocks noChangeAspect="1"/>
          </p:cNvPicPr>
          <p:nvPr/>
        </p:nvPicPr>
        <p:blipFill>
          <a:blip r:embed="rId4"/>
          <a:stretch>
            <a:fillRect/>
          </a:stretch>
        </p:blipFill>
        <p:spPr>
          <a:xfrm>
            <a:off x="10142839" y="113712"/>
            <a:ext cx="1926435" cy="603079"/>
          </a:xfrm>
          <a:prstGeom prst="rect">
            <a:avLst/>
          </a:prstGeom>
          <a:ln w="12700">
            <a:miter lim="400000"/>
          </a:ln>
        </p:spPr>
      </p:pic>
      <p:sp>
        <p:nvSpPr>
          <p:cNvPr id="78" name="Slide Number"/>
          <p:cNvSpPr txBox="1">
            <a:spLocks noGrp="1"/>
          </p:cNvSpPr>
          <p:nvPr>
            <p:ph type="sldNum" sz="quarter" idx="2"/>
          </p:nvPr>
        </p:nvSpPr>
        <p:spPr>
          <a:xfrm>
            <a:off x="511193" y="6540819"/>
            <a:ext cx="270526" cy="269237"/>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2_Custom Layout">
    <p:spTree>
      <p:nvGrpSpPr>
        <p:cNvPr id="1" name=""/>
        <p:cNvGrpSpPr/>
        <p:nvPr/>
      </p:nvGrpSpPr>
      <p:grpSpPr>
        <a:xfrm>
          <a:off x="0" y="0"/>
          <a:ext cx="0" cy="0"/>
          <a:chOff x="0" y="0"/>
          <a:chExt cx="0" cy="0"/>
        </a:xfrm>
      </p:grpSpPr>
      <p:pic>
        <p:nvPicPr>
          <p:cNvPr id="85" name="Picture 1" descr="Picture 1"/>
          <p:cNvPicPr>
            <a:picLocks noChangeAspect="1"/>
          </p:cNvPicPr>
          <p:nvPr/>
        </p:nvPicPr>
        <p:blipFill>
          <a:blip r:embed="rId2"/>
          <a:stretch>
            <a:fillRect/>
          </a:stretch>
        </p:blipFill>
        <p:spPr>
          <a:xfrm>
            <a:off x="10263116" y="0"/>
            <a:ext cx="1862851" cy="583173"/>
          </a:xfrm>
          <a:prstGeom prst="rect">
            <a:avLst/>
          </a:prstGeom>
          <a:ln w="12700">
            <a:miter lim="400000"/>
          </a:ln>
        </p:spPr>
      </p:pic>
      <p:sp>
        <p:nvSpPr>
          <p:cNvPr id="86" name="Slide Number"/>
          <p:cNvSpPr txBox="1">
            <a:spLocks noGrp="1"/>
          </p:cNvSpPr>
          <p:nvPr>
            <p:ph type="sldNum" sz="quarter" idx="2"/>
          </p:nvPr>
        </p:nvSpPr>
        <p:spPr>
          <a:xfrm>
            <a:off x="0" y="6540819"/>
            <a:ext cx="270526" cy="269237"/>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2_Content Slide  Option#2 with Graph /Data">
    <p:spTree>
      <p:nvGrpSpPr>
        <p:cNvPr id="1" name=""/>
        <p:cNvGrpSpPr/>
        <p:nvPr/>
      </p:nvGrpSpPr>
      <p:grpSpPr>
        <a:xfrm>
          <a:off x="0" y="0"/>
          <a:ext cx="0" cy="0"/>
          <a:chOff x="0" y="0"/>
          <a:chExt cx="0" cy="0"/>
        </a:xfrm>
      </p:grpSpPr>
      <p:sp>
        <p:nvSpPr>
          <p:cNvPr id="93" name="Click to Add Graph/Data"/>
          <p:cNvSpPr txBox="1">
            <a:spLocks noGrp="1"/>
          </p:cNvSpPr>
          <p:nvPr>
            <p:ph type="title" hasCustomPrompt="1"/>
          </p:nvPr>
        </p:nvSpPr>
        <p:spPr>
          <a:xfrm>
            <a:off x="563885" y="1019365"/>
            <a:ext cx="5874026" cy="557062"/>
          </a:xfrm>
          <a:prstGeom prst="rect">
            <a:avLst/>
          </a:prstGeom>
        </p:spPr>
        <p:txBody>
          <a:bodyPr anchor="t"/>
          <a:lstStyle>
            <a:lvl1pPr>
              <a:defRPr sz="2400"/>
            </a:lvl1pPr>
          </a:lstStyle>
          <a:p>
            <a:r>
              <a:t>Click to Add Graph/Data</a:t>
            </a:r>
          </a:p>
        </p:txBody>
      </p:sp>
      <p:pic>
        <p:nvPicPr>
          <p:cNvPr id="94" name="Graphic 11" descr="Graphic 11"/>
          <p:cNvPicPr>
            <a:picLocks noChangeAspect="1"/>
          </p:cNvPicPr>
          <p:nvPr/>
        </p:nvPicPr>
        <p:blipFill>
          <a:blip r:embed="rId2"/>
          <a:stretch>
            <a:fillRect/>
          </a:stretch>
        </p:blipFill>
        <p:spPr>
          <a:xfrm>
            <a:off x="288949" y="2048"/>
            <a:ext cx="236194" cy="6858004"/>
          </a:xfrm>
          <a:prstGeom prst="rect">
            <a:avLst/>
          </a:prstGeom>
          <a:ln w="12700">
            <a:miter lim="400000"/>
          </a:ln>
        </p:spPr>
      </p:pic>
      <p:pic>
        <p:nvPicPr>
          <p:cNvPr id="95" name="Graphic 12" descr="Graphic 12"/>
          <p:cNvPicPr>
            <a:picLocks noChangeAspect="1"/>
          </p:cNvPicPr>
          <p:nvPr/>
        </p:nvPicPr>
        <p:blipFill>
          <a:blip r:embed="rId3"/>
          <a:stretch>
            <a:fillRect/>
          </a:stretch>
        </p:blipFill>
        <p:spPr>
          <a:xfrm>
            <a:off x="250205" y="250602"/>
            <a:ext cx="313682" cy="329299"/>
          </a:xfrm>
          <a:prstGeom prst="rect">
            <a:avLst/>
          </a:prstGeom>
          <a:ln w="12700">
            <a:miter lim="400000"/>
          </a:ln>
        </p:spPr>
      </p:pic>
      <p:sp>
        <p:nvSpPr>
          <p:cNvPr id="96" name="Body Level One…"/>
          <p:cNvSpPr txBox="1">
            <a:spLocks noGrp="1"/>
          </p:cNvSpPr>
          <p:nvPr>
            <p:ph type="body" sz="quarter" idx="1" hasCustomPrompt="1"/>
          </p:nvPr>
        </p:nvSpPr>
        <p:spPr>
          <a:xfrm>
            <a:off x="563885" y="1842757"/>
            <a:ext cx="4054150" cy="3754438"/>
          </a:xfrm>
          <a:prstGeom prst="rect">
            <a:avLst/>
          </a:prstGeom>
        </p:spPr>
        <p:txBody>
          <a:bodyPr/>
          <a:lstStyle>
            <a:lvl1pPr marL="0" indent="0">
              <a:lnSpc>
                <a:spcPct val="95000"/>
              </a:lnSpc>
              <a:buSzTx/>
              <a:buFontTx/>
              <a:buNone/>
              <a:defRPr sz="1600"/>
            </a:lvl1pPr>
            <a:lvl2pPr marL="0" indent="0">
              <a:lnSpc>
                <a:spcPct val="95000"/>
              </a:lnSpc>
              <a:buSzTx/>
              <a:buFontTx/>
              <a:buNone/>
              <a:defRPr sz="1600"/>
            </a:lvl2pPr>
            <a:lvl3pPr marL="0" indent="0">
              <a:lnSpc>
                <a:spcPct val="95000"/>
              </a:lnSpc>
              <a:buSzTx/>
              <a:buFontTx/>
              <a:buNone/>
              <a:defRPr sz="1600"/>
            </a:lvl3pPr>
            <a:lvl4pPr marL="0" indent="0">
              <a:lnSpc>
                <a:spcPct val="95000"/>
              </a:lnSpc>
              <a:buSzTx/>
              <a:buFontTx/>
              <a:buNone/>
              <a:defRPr sz="1600"/>
            </a:lvl4pPr>
            <a:lvl5pPr marL="0" indent="0">
              <a:lnSpc>
                <a:spcPct val="95000"/>
              </a:lnSpc>
              <a:buSzTx/>
              <a:buFontTx/>
              <a:buNone/>
              <a:defRPr sz="1600"/>
            </a:lvl5pPr>
          </a:lstStyle>
          <a:p>
            <a:r>
              <a:t>Add your An analytical paragraph,  is a form of descriptive writing which is written on the basis of a given chart, graph, data, outline, clues, table etc.</a:t>
            </a:r>
          </a:p>
          <a:p>
            <a:pPr lvl="1"/>
            <a:endParaRPr/>
          </a:p>
          <a:p>
            <a:pPr lvl="2"/>
            <a:endParaRPr/>
          </a:p>
          <a:p>
            <a:pPr lvl="3"/>
            <a:endParaRPr/>
          </a:p>
          <a:p>
            <a:pPr lvl="4"/>
            <a:endParaRPr/>
          </a:p>
        </p:txBody>
      </p:sp>
      <p:pic>
        <p:nvPicPr>
          <p:cNvPr id="97" name="Picture 1" descr="Picture 1"/>
          <p:cNvPicPr>
            <a:picLocks noChangeAspect="1"/>
          </p:cNvPicPr>
          <p:nvPr/>
        </p:nvPicPr>
        <p:blipFill>
          <a:blip r:embed="rId4"/>
          <a:stretch>
            <a:fillRect/>
          </a:stretch>
        </p:blipFill>
        <p:spPr>
          <a:xfrm>
            <a:off x="10368008" y="67459"/>
            <a:ext cx="1821908" cy="570359"/>
          </a:xfrm>
          <a:prstGeom prst="rect">
            <a:avLst/>
          </a:prstGeom>
          <a:ln w="12700">
            <a:miter lim="400000"/>
          </a:ln>
        </p:spPr>
      </p:pic>
      <p:sp>
        <p:nvSpPr>
          <p:cNvPr id="98" name="Slide Number"/>
          <p:cNvSpPr txBox="1">
            <a:spLocks noGrp="1"/>
          </p:cNvSpPr>
          <p:nvPr>
            <p:ph type="sldNum" sz="quarter" idx="2"/>
          </p:nvPr>
        </p:nvSpPr>
        <p:spPr>
          <a:xfrm>
            <a:off x="472845" y="6540819"/>
            <a:ext cx="270526" cy="269237"/>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Cover and Title for the Presentation#2">
    <p:spTree>
      <p:nvGrpSpPr>
        <p:cNvPr id="1" name=""/>
        <p:cNvGrpSpPr/>
        <p:nvPr/>
      </p:nvGrpSpPr>
      <p:grpSpPr>
        <a:xfrm>
          <a:off x="0" y="0"/>
          <a:ext cx="0" cy="0"/>
          <a:chOff x="0" y="0"/>
          <a:chExt cx="0" cy="0"/>
        </a:xfrm>
      </p:grpSpPr>
      <p:pic>
        <p:nvPicPr>
          <p:cNvPr id="105" name="Graphic 6" descr="Graphic 6"/>
          <p:cNvPicPr>
            <a:picLocks noChangeAspect="1"/>
          </p:cNvPicPr>
          <p:nvPr/>
        </p:nvPicPr>
        <p:blipFill>
          <a:blip r:embed="rId2"/>
          <a:stretch>
            <a:fillRect/>
          </a:stretch>
        </p:blipFill>
        <p:spPr>
          <a:xfrm>
            <a:off x="850900" y="615970"/>
            <a:ext cx="3713568" cy="634598"/>
          </a:xfrm>
          <a:prstGeom prst="rect">
            <a:avLst/>
          </a:prstGeom>
          <a:ln w="12700">
            <a:miter lim="400000"/>
          </a:ln>
        </p:spPr>
      </p:pic>
      <p:sp>
        <p:nvSpPr>
          <p:cNvPr id="106" name="Body Level One…"/>
          <p:cNvSpPr txBox="1">
            <a:spLocks noGrp="1"/>
          </p:cNvSpPr>
          <p:nvPr>
            <p:ph type="body" sz="quarter" idx="1"/>
          </p:nvPr>
        </p:nvSpPr>
        <p:spPr>
          <a:xfrm>
            <a:off x="955675" y="3945602"/>
            <a:ext cx="9144000" cy="536332"/>
          </a:xfrm>
          <a:prstGeom prst="rect">
            <a:avLst/>
          </a:prstGeom>
        </p:spPr>
        <p:txBody>
          <a:bodyPr/>
          <a:lstStyle>
            <a:lvl1pPr marL="0" indent="0">
              <a:buSzTx/>
              <a:buFontTx/>
              <a:buNone/>
              <a:defRPr sz="2500">
                <a:solidFill>
                  <a:srgbClr val="B5EFDD"/>
                </a:solidFill>
              </a:defRPr>
            </a:lvl1pPr>
            <a:lvl2pPr marL="0" indent="0">
              <a:buSzTx/>
              <a:buFontTx/>
              <a:buNone/>
              <a:defRPr sz="2500">
                <a:solidFill>
                  <a:srgbClr val="B5EFDD"/>
                </a:solidFill>
              </a:defRPr>
            </a:lvl2pPr>
            <a:lvl3pPr marL="0" indent="0">
              <a:buSzTx/>
              <a:buFontTx/>
              <a:buNone/>
              <a:defRPr sz="2500">
                <a:solidFill>
                  <a:srgbClr val="B5EFDD"/>
                </a:solidFill>
              </a:defRPr>
            </a:lvl3pPr>
            <a:lvl4pPr marL="0" indent="0">
              <a:buSzTx/>
              <a:buFontTx/>
              <a:buNone/>
              <a:defRPr sz="2500">
                <a:solidFill>
                  <a:srgbClr val="B5EFDD"/>
                </a:solidFill>
              </a:defRPr>
            </a:lvl4pPr>
            <a:lvl5pPr marL="0" indent="0">
              <a:buSzTx/>
              <a:buFontTx/>
              <a:buNone/>
              <a:defRPr sz="2500">
                <a:solidFill>
                  <a:srgbClr val="B5EFDD"/>
                </a:solidFill>
              </a:defRPr>
            </a:lvl5pPr>
          </a:lstStyle>
          <a:p>
            <a:r>
              <a:t>Body Level One</a:t>
            </a:r>
          </a:p>
          <a:p>
            <a:pPr lvl="1"/>
            <a:r>
              <a:t>Body Level Two</a:t>
            </a:r>
          </a:p>
          <a:p>
            <a:pPr lvl="2"/>
            <a:r>
              <a:t>Body Level Three</a:t>
            </a:r>
          </a:p>
          <a:p>
            <a:pPr lvl="3"/>
            <a:r>
              <a:t>Body Level Four</a:t>
            </a:r>
          </a:p>
          <a:p>
            <a:pPr lvl="4"/>
            <a:r>
              <a:t>Body Level Five</a:t>
            </a:r>
          </a:p>
        </p:txBody>
      </p:sp>
      <p:pic>
        <p:nvPicPr>
          <p:cNvPr id="107" name="Graphic 12" descr="Graphic 12"/>
          <p:cNvPicPr>
            <a:picLocks noChangeAspect="1"/>
          </p:cNvPicPr>
          <p:nvPr/>
        </p:nvPicPr>
        <p:blipFill>
          <a:blip r:embed="rId3"/>
          <a:stretch>
            <a:fillRect/>
          </a:stretch>
        </p:blipFill>
        <p:spPr>
          <a:xfrm>
            <a:off x="9516978" y="775699"/>
            <a:ext cx="2675022" cy="315142"/>
          </a:xfrm>
          <a:prstGeom prst="rect">
            <a:avLst/>
          </a:prstGeom>
          <a:ln w="12700">
            <a:miter lim="400000"/>
          </a:ln>
        </p:spPr>
      </p:pic>
      <p:sp>
        <p:nvSpPr>
          <p:cNvPr id="108" name="Click to edit master title style"/>
          <p:cNvSpPr txBox="1">
            <a:spLocks noGrp="1"/>
          </p:cNvSpPr>
          <p:nvPr>
            <p:ph type="title" hasCustomPrompt="1"/>
          </p:nvPr>
        </p:nvSpPr>
        <p:spPr>
          <a:xfrm>
            <a:off x="955675" y="3126851"/>
            <a:ext cx="9144000" cy="818752"/>
          </a:xfrm>
          <a:prstGeom prst="rect">
            <a:avLst/>
          </a:prstGeom>
        </p:spPr>
        <p:txBody>
          <a:bodyPr anchor="t"/>
          <a:lstStyle>
            <a:lvl1pPr>
              <a:defRPr>
                <a:solidFill>
                  <a:srgbClr val="FFFFFF"/>
                </a:solidFill>
              </a:defRPr>
            </a:lvl1pPr>
          </a:lstStyle>
          <a:p>
            <a:r>
              <a:t>Click to edit master title style</a:t>
            </a:r>
          </a:p>
        </p:txBody>
      </p:sp>
      <p:pic>
        <p:nvPicPr>
          <p:cNvPr id="109" name="Picture 1" descr="Picture 1"/>
          <p:cNvPicPr>
            <a:picLocks noChangeAspect="1"/>
          </p:cNvPicPr>
          <p:nvPr/>
        </p:nvPicPr>
        <p:blipFill>
          <a:blip r:embed="rId4"/>
          <a:stretch>
            <a:fillRect/>
          </a:stretch>
        </p:blipFill>
        <p:spPr>
          <a:xfrm>
            <a:off x="10025377" y="36457"/>
            <a:ext cx="2107412" cy="659736"/>
          </a:xfrm>
          <a:prstGeom prst="rect">
            <a:avLst/>
          </a:prstGeom>
          <a:ln w="12700">
            <a:miter lim="400000"/>
          </a:ln>
        </p:spPr>
      </p:pic>
      <p:sp>
        <p:nvSpPr>
          <p:cNvPr id="110" name="Slide Number"/>
          <p:cNvSpPr txBox="1">
            <a:spLocks noGrp="1"/>
          </p:cNvSpPr>
          <p:nvPr>
            <p:ph type="sldNum" sz="quarter" idx="2"/>
          </p:nvPr>
        </p:nvSpPr>
        <p:spPr>
          <a:xfrm>
            <a:off x="8737600" y="6221732"/>
            <a:ext cx="270526" cy="269237"/>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Closing Page">
    <p:spTree>
      <p:nvGrpSpPr>
        <p:cNvPr id="1" name=""/>
        <p:cNvGrpSpPr/>
        <p:nvPr/>
      </p:nvGrpSpPr>
      <p:grpSpPr>
        <a:xfrm>
          <a:off x="0" y="0"/>
          <a:ext cx="0" cy="0"/>
          <a:chOff x="0" y="0"/>
          <a:chExt cx="0" cy="0"/>
        </a:xfrm>
      </p:grpSpPr>
      <p:sp>
        <p:nvSpPr>
          <p:cNvPr id="117" name="Thank You"/>
          <p:cNvSpPr txBox="1">
            <a:spLocks noGrp="1"/>
          </p:cNvSpPr>
          <p:nvPr>
            <p:ph type="title" hasCustomPrompt="1"/>
          </p:nvPr>
        </p:nvSpPr>
        <p:spPr>
          <a:xfrm>
            <a:off x="0" y="3258980"/>
            <a:ext cx="12192000" cy="1006478"/>
          </a:xfrm>
          <a:prstGeom prst="rect">
            <a:avLst/>
          </a:prstGeom>
        </p:spPr>
        <p:txBody>
          <a:bodyPr/>
          <a:lstStyle>
            <a:lvl1pPr algn="ctr">
              <a:defRPr sz="7200">
                <a:solidFill>
                  <a:srgbClr val="FFFFFF"/>
                </a:solidFill>
              </a:defRPr>
            </a:lvl1pPr>
          </a:lstStyle>
          <a:p>
            <a:r>
              <a:t>Thank You</a:t>
            </a:r>
          </a:p>
        </p:txBody>
      </p:sp>
      <p:pic>
        <p:nvPicPr>
          <p:cNvPr id="118" name="Graphic 13" descr="Graphic 13"/>
          <p:cNvPicPr>
            <a:picLocks noChangeAspect="1"/>
          </p:cNvPicPr>
          <p:nvPr/>
        </p:nvPicPr>
        <p:blipFill>
          <a:blip r:embed="rId2"/>
          <a:stretch>
            <a:fillRect/>
          </a:stretch>
        </p:blipFill>
        <p:spPr>
          <a:xfrm>
            <a:off x="4032577" y="1380675"/>
            <a:ext cx="4126847" cy="949833"/>
          </a:xfrm>
          <a:prstGeom prst="rect">
            <a:avLst/>
          </a:prstGeom>
          <a:ln w="12700">
            <a:miter lim="400000"/>
          </a:ln>
        </p:spPr>
      </p:pic>
      <p:grpSp>
        <p:nvGrpSpPr>
          <p:cNvPr id="124" name="Group 2"/>
          <p:cNvGrpSpPr/>
          <p:nvPr/>
        </p:nvGrpSpPr>
        <p:grpSpPr>
          <a:xfrm>
            <a:off x="1963847" y="5952903"/>
            <a:ext cx="8456042" cy="400332"/>
            <a:chOff x="0" y="0"/>
            <a:chExt cx="8456040" cy="400331"/>
          </a:xfrm>
        </p:grpSpPr>
        <p:sp>
          <p:nvSpPr>
            <p:cNvPr id="119" name="TextBox 9"/>
            <p:cNvSpPr txBox="1"/>
            <p:nvPr/>
          </p:nvSpPr>
          <p:spPr>
            <a:xfrm>
              <a:off x="337154" y="11152"/>
              <a:ext cx="2567615" cy="3644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lvl1pPr>
                <a:lnSpc>
                  <a:spcPts val="2300"/>
                </a:lnSpc>
                <a:defRPr sz="1500" b="1">
                  <a:latin typeface="Tahoma"/>
                  <a:ea typeface="Tahoma"/>
                  <a:cs typeface="Tahoma"/>
                  <a:sym typeface="Tahoma"/>
                </a:defRPr>
              </a:lvl1pPr>
            </a:lstStyle>
            <a:p>
              <a:r>
                <a:t>800 MyHCT (800 69428)</a:t>
              </a:r>
            </a:p>
          </p:txBody>
        </p:sp>
        <p:pic>
          <p:nvPicPr>
            <p:cNvPr id="120" name="Graphic 10" descr="Graphic 10"/>
            <p:cNvPicPr>
              <a:picLocks noChangeAspect="1"/>
            </p:cNvPicPr>
            <p:nvPr/>
          </p:nvPicPr>
          <p:blipFill>
            <a:blip r:embed="rId3"/>
            <a:stretch>
              <a:fillRect/>
            </a:stretch>
          </p:blipFill>
          <p:spPr>
            <a:xfrm>
              <a:off x="3105360" y="51003"/>
              <a:ext cx="273127" cy="273128"/>
            </a:xfrm>
            <a:prstGeom prst="rect">
              <a:avLst/>
            </a:prstGeom>
            <a:ln w="12700" cap="flat">
              <a:noFill/>
              <a:miter lim="400000"/>
            </a:ln>
            <a:effectLst/>
          </p:spPr>
        </p:pic>
        <p:pic>
          <p:nvPicPr>
            <p:cNvPr id="121" name="Graphic 15" descr="Graphic 15"/>
            <p:cNvPicPr>
              <a:picLocks noChangeAspect="1"/>
            </p:cNvPicPr>
            <p:nvPr/>
          </p:nvPicPr>
          <p:blipFill>
            <a:blip r:embed="rId4"/>
            <a:stretch>
              <a:fillRect/>
            </a:stretch>
          </p:blipFill>
          <p:spPr>
            <a:xfrm>
              <a:off x="-1" y="112964"/>
              <a:ext cx="276099" cy="184068"/>
            </a:xfrm>
            <a:prstGeom prst="rect">
              <a:avLst/>
            </a:prstGeom>
            <a:ln w="12700" cap="flat">
              <a:noFill/>
              <a:miter lim="400000"/>
            </a:ln>
            <a:effectLst/>
          </p:spPr>
        </p:pic>
        <p:sp>
          <p:nvSpPr>
            <p:cNvPr id="122" name="TextBox 16"/>
            <p:cNvSpPr txBox="1"/>
            <p:nvPr/>
          </p:nvSpPr>
          <p:spPr>
            <a:xfrm>
              <a:off x="3442515" y="-1"/>
              <a:ext cx="2567615" cy="3644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lvl1pPr>
                <a:lnSpc>
                  <a:spcPts val="2300"/>
                </a:lnSpc>
                <a:defRPr sz="1500" b="1">
                  <a:latin typeface="Tahoma"/>
                  <a:ea typeface="Tahoma"/>
                  <a:cs typeface="Tahoma"/>
                  <a:sym typeface="Tahoma"/>
                </a:defRPr>
              </a:lvl1pPr>
            </a:lstStyle>
            <a:p>
              <a:r>
                <a:t>www.hct.ac.ae</a:t>
              </a:r>
            </a:p>
          </p:txBody>
        </p:sp>
        <p:pic>
          <p:nvPicPr>
            <p:cNvPr id="123" name="Graphic 12" descr="Graphic 12"/>
            <p:cNvPicPr>
              <a:picLocks noChangeAspect="1"/>
            </p:cNvPicPr>
            <p:nvPr/>
          </p:nvPicPr>
          <p:blipFill>
            <a:blip r:embed="rId5"/>
            <a:stretch>
              <a:fillRect/>
            </a:stretch>
          </p:blipFill>
          <p:spPr>
            <a:xfrm>
              <a:off x="5294492" y="23952"/>
              <a:ext cx="3161549" cy="376379"/>
            </a:xfrm>
            <a:prstGeom prst="rect">
              <a:avLst/>
            </a:prstGeom>
            <a:ln w="12700" cap="flat">
              <a:noFill/>
              <a:miter lim="400000"/>
            </a:ln>
            <a:effectLst/>
          </p:spPr>
        </p:pic>
      </p:grpSp>
      <p:pic>
        <p:nvPicPr>
          <p:cNvPr id="125" name="Picture 1" descr="Picture 1"/>
          <p:cNvPicPr>
            <a:picLocks noChangeAspect="1"/>
          </p:cNvPicPr>
          <p:nvPr/>
        </p:nvPicPr>
        <p:blipFill>
          <a:blip r:embed="rId6"/>
          <a:stretch>
            <a:fillRect/>
          </a:stretch>
        </p:blipFill>
        <p:spPr>
          <a:xfrm>
            <a:off x="4915503" y="2435110"/>
            <a:ext cx="2360992" cy="739122"/>
          </a:xfrm>
          <a:prstGeom prst="rect">
            <a:avLst/>
          </a:prstGeom>
          <a:ln w="12700">
            <a:miter lim="400000"/>
          </a:ln>
        </p:spPr>
      </p:pic>
      <p:sp>
        <p:nvSpPr>
          <p:cNvPr id="126" name="Slide Number"/>
          <p:cNvSpPr txBox="1">
            <a:spLocks noGrp="1"/>
          </p:cNvSpPr>
          <p:nvPr>
            <p:ph type="sldNum" sz="quarter" idx="2"/>
          </p:nvPr>
        </p:nvSpPr>
        <p:spPr>
          <a:xfrm>
            <a:off x="8737600" y="6221732"/>
            <a:ext cx="270526" cy="269237"/>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losing Page 0">
    <p:spTree>
      <p:nvGrpSpPr>
        <p:cNvPr id="1" name=""/>
        <p:cNvGrpSpPr/>
        <p:nvPr/>
      </p:nvGrpSpPr>
      <p:grpSpPr>
        <a:xfrm>
          <a:off x="0" y="0"/>
          <a:ext cx="0" cy="0"/>
          <a:chOff x="0" y="0"/>
          <a:chExt cx="0" cy="0"/>
        </a:xfrm>
      </p:grpSpPr>
      <p:sp>
        <p:nvSpPr>
          <p:cNvPr id="133" name="Thank You"/>
          <p:cNvSpPr txBox="1">
            <a:spLocks noGrp="1"/>
          </p:cNvSpPr>
          <p:nvPr>
            <p:ph type="title" hasCustomPrompt="1"/>
          </p:nvPr>
        </p:nvSpPr>
        <p:spPr>
          <a:xfrm>
            <a:off x="0" y="3258980"/>
            <a:ext cx="12192000" cy="1006478"/>
          </a:xfrm>
          <a:prstGeom prst="rect">
            <a:avLst/>
          </a:prstGeom>
        </p:spPr>
        <p:txBody>
          <a:bodyPr/>
          <a:lstStyle>
            <a:lvl1pPr algn="ctr">
              <a:defRPr sz="7200">
                <a:solidFill>
                  <a:srgbClr val="FFFFFF"/>
                </a:solidFill>
              </a:defRPr>
            </a:lvl1pPr>
          </a:lstStyle>
          <a:p>
            <a:r>
              <a:t>Thank You</a:t>
            </a:r>
          </a:p>
        </p:txBody>
      </p:sp>
      <p:sp>
        <p:nvSpPr>
          <p:cNvPr id="134" name="Slide Number"/>
          <p:cNvSpPr txBox="1">
            <a:spLocks noGrp="1"/>
          </p:cNvSpPr>
          <p:nvPr>
            <p:ph type="sldNum" sz="quarter" idx="2"/>
          </p:nvPr>
        </p:nvSpPr>
        <p:spPr>
          <a:xfrm>
            <a:off x="8737600" y="6221732"/>
            <a:ext cx="270526" cy="269237"/>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61903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Graphic 25" descr="Graphic 25"/>
          <p:cNvPicPr>
            <a:picLocks noChangeAspect="1"/>
          </p:cNvPicPr>
          <p:nvPr/>
        </p:nvPicPr>
        <p:blipFill>
          <a:blip r:embed="rId14"/>
          <a:stretch>
            <a:fillRect/>
          </a:stretch>
        </p:blipFill>
        <p:spPr>
          <a:xfrm>
            <a:off x="27236" y="37577"/>
            <a:ext cx="313679" cy="329301"/>
          </a:xfrm>
          <a:prstGeom prst="rect">
            <a:avLst/>
          </a:prstGeom>
          <a:ln w="12700">
            <a:miter lim="400000"/>
          </a:ln>
        </p:spPr>
      </p:pic>
      <p:pic>
        <p:nvPicPr>
          <p:cNvPr id="3" name="Picture 8" descr="Picture 8"/>
          <p:cNvPicPr>
            <a:picLocks noChangeAspect="1"/>
          </p:cNvPicPr>
          <p:nvPr/>
        </p:nvPicPr>
        <p:blipFill>
          <a:blip r:embed="rId15"/>
          <a:stretch>
            <a:fillRect/>
          </a:stretch>
        </p:blipFill>
        <p:spPr>
          <a:xfrm>
            <a:off x="10317394" y="0"/>
            <a:ext cx="1874609" cy="586856"/>
          </a:xfrm>
          <a:prstGeom prst="rect">
            <a:avLst/>
          </a:prstGeom>
          <a:ln w="12700">
            <a:miter lim="400000"/>
          </a:ln>
        </p:spPr>
      </p:pic>
      <p:sp>
        <p:nvSpPr>
          <p:cNvPr id="4" name="Title Text"/>
          <p:cNvSpPr txBox="1">
            <a:spLocks noGrp="1"/>
          </p:cNvSpPr>
          <p:nvPr>
            <p:ph type="title"/>
          </p:nvPr>
        </p:nvSpPr>
        <p:spPr>
          <a:xfrm>
            <a:off x="27236" y="402555"/>
            <a:ext cx="9826450" cy="1190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normAutofit/>
          </a:bodyPr>
          <a:lstStyle/>
          <a:p>
            <a:r>
              <a:t>Title Text</a:t>
            </a:r>
          </a:p>
        </p:txBody>
      </p:sp>
      <p:sp>
        <p:nvSpPr>
          <p:cNvPr id="5" name="Body Level One…"/>
          <p:cNvSpPr txBox="1">
            <a:spLocks noGrp="1"/>
          </p:cNvSpPr>
          <p:nvPr>
            <p:ph type="body" idx="1"/>
          </p:nvPr>
        </p:nvSpPr>
        <p:spPr>
          <a:xfrm>
            <a:off x="407193" y="1630609"/>
            <a:ext cx="11471618" cy="48283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ormAutofit/>
          </a:bodyPr>
          <a:lstStyle/>
          <a:p>
            <a:r>
              <a:t>Body Level One</a:t>
            </a:r>
          </a:p>
          <a:p>
            <a:pPr lvl="1"/>
            <a:r>
              <a:t>Body Level Two</a:t>
            </a:r>
          </a:p>
          <a:p>
            <a:pPr lvl="2"/>
            <a:r>
              <a:t>Body Level Three</a:t>
            </a:r>
          </a:p>
          <a:p>
            <a:pPr lvl="3"/>
            <a:r>
              <a:t>Body Level Four</a:t>
            </a:r>
          </a:p>
          <a:p>
            <a:pPr lvl="4"/>
            <a:r>
              <a:t>Body Level Five</a:t>
            </a:r>
          </a:p>
        </p:txBody>
      </p:sp>
      <p:sp>
        <p:nvSpPr>
          <p:cNvPr id="6" name="Slide Number"/>
          <p:cNvSpPr txBox="1">
            <a:spLocks noGrp="1"/>
          </p:cNvSpPr>
          <p:nvPr>
            <p:ph type="sldNum" sz="quarter" idx="2"/>
          </p:nvPr>
        </p:nvSpPr>
        <p:spPr>
          <a:xfrm>
            <a:off x="0" y="6581715"/>
            <a:ext cx="270526" cy="269237"/>
          </a:xfrm>
          <a:prstGeom prst="rect">
            <a:avLst/>
          </a:prstGeom>
          <a:ln w="12700">
            <a:miter lim="400000"/>
          </a:ln>
        </p:spPr>
        <p:txBody>
          <a:bodyPr wrap="none" lIns="45718" tIns="45718" rIns="45718" bIns="45718" anchor="ctr">
            <a:spAutoFit/>
          </a:bodyPr>
          <a:lstStyle>
            <a:lvl1pPr>
              <a:defRPr sz="1200">
                <a:solidFill>
                  <a:srgbClr val="00249C"/>
                </a:solidFill>
                <a:latin typeface="Tahoma"/>
                <a:ea typeface="Tahoma"/>
                <a:cs typeface="Tahoma"/>
                <a:sym typeface="Tahoma"/>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249C"/>
          </a:solidFill>
          <a:uFillTx/>
          <a:latin typeface="Tahoma"/>
          <a:ea typeface="Tahoma"/>
          <a:cs typeface="Tahoma"/>
          <a:sym typeface="Tahoma"/>
        </a:defRPr>
      </a:lvl1pPr>
      <a:lvl2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249C"/>
          </a:solidFill>
          <a:uFillTx/>
          <a:latin typeface="Tahoma"/>
          <a:ea typeface="Tahoma"/>
          <a:cs typeface="Tahoma"/>
          <a:sym typeface="Tahoma"/>
        </a:defRPr>
      </a:lvl2pPr>
      <a:lvl3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249C"/>
          </a:solidFill>
          <a:uFillTx/>
          <a:latin typeface="Tahoma"/>
          <a:ea typeface="Tahoma"/>
          <a:cs typeface="Tahoma"/>
          <a:sym typeface="Tahoma"/>
        </a:defRPr>
      </a:lvl3pPr>
      <a:lvl4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249C"/>
          </a:solidFill>
          <a:uFillTx/>
          <a:latin typeface="Tahoma"/>
          <a:ea typeface="Tahoma"/>
          <a:cs typeface="Tahoma"/>
          <a:sym typeface="Tahoma"/>
        </a:defRPr>
      </a:lvl4pPr>
      <a:lvl5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249C"/>
          </a:solidFill>
          <a:uFillTx/>
          <a:latin typeface="Tahoma"/>
          <a:ea typeface="Tahoma"/>
          <a:cs typeface="Tahoma"/>
          <a:sym typeface="Tahoma"/>
        </a:defRPr>
      </a:lvl5pPr>
      <a:lvl6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249C"/>
          </a:solidFill>
          <a:uFillTx/>
          <a:latin typeface="Tahoma"/>
          <a:ea typeface="Tahoma"/>
          <a:cs typeface="Tahoma"/>
          <a:sym typeface="Tahoma"/>
        </a:defRPr>
      </a:lvl6pPr>
      <a:lvl7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249C"/>
          </a:solidFill>
          <a:uFillTx/>
          <a:latin typeface="Tahoma"/>
          <a:ea typeface="Tahoma"/>
          <a:cs typeface="Tahoma"/>
          <a:sym typeface="Tahoma"/>
        </a:defRPr>
      </a:lvl7pPr>
      <a:lvl8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249C"/>
          </a:solidFill>
          <a:uFillTx/>
          <a:latin typeface="Tahoma"/>
          <a:ea typeface="Tahoma"/>
          <a:cs typeface="Tahoma"/>
          <a:sym typeface="Tahoma"/>
        </a:defRPr>
      </a:lvl8pPr>
      <a:lvl9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249C"/>
          </a:solidFill>
          <a:uFillTx/>
          <a:latin typeface="Tahoma"/>
          <a:ea typeface="Tahoma"/>
          <a:cs typeface="Tahoma"/>
          <a:sym typeface="Tahom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249C"/>
          </a:solidFill>
          <a:uFillTx/>
          <a:latin typeface="Tahoma"/>
          <a:ea typeface="Tahoma"/>
          <a:cs typeface="Tahoma"/>
          <a:sym typeface="Tahoma"/>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249C"/>
          </a:solidFill>
          <a:uFillTx/>
          <a:latin typeface="Tahoma"/>
          <a:ea typeface="Tahoma"/>
          <a:cs typeface="Tahoma"/>
          <a:sym typeface="Tahoma"/>
        </a:defRPr>
      </a:lvl2pPr>
      <a:lvl3pPr marL="1234438" marR="0" indent="-320038"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249C"/>
          </a:solidFill>
          <a:uFillTx/>
          <a:latin typeface="Tahoma"/>
          <a:ea typeface="Tahoma"/>
          <a:cs typeface="Tahoma"/>
          <a:sym typeface="Tahoma"/>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249C"/>
          </a:solidFill>
          <a:uFillTx/>
          <a:latin typeface="Tahoma"/>
          <a:ea typeface="Tahoma"/>
          <a:cs typeface="Tahoma"/>
          <a:sym typeface="Tahoma"/>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249C"/>
          </a:solidFill>
          <a:uFillTx/>
          <a:latin typeface="Tahoma"/>
          <a:ea typeface="Tahoma"/>
          <a:cs typeface="Tahoma"/>
          <a:sym typeface="Tahoma"/>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249C"/>
          </a:solidFill>
          <a:uFillTx/>
          <a:latin typeface="Tahoma"/>
          <a:ea typeface="Tahoma"/>
          <a:cs typeface="Tahoma"/>
          <a:sym typeface="Tahoma"/>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249C"/>
          </a:solidFill>
          <a:uFillTx/>
          <a:latin typeface="Tahoma"/>
          <a:ea typeface="Tahoma"/>
          <a:cs typeface="Tahoma"/>
          <a:sym typeface="Tahoma"/>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249C"/>
          </a:solidFill>
          <a:uFillTx/>
          <a:latin typeface="Tahoma"/>
          <a:ea typeface="Tahoma"/>
          <a:cs typeface="Tahoma"/>
          <a:sym typeface="Tahoma"/>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249C"/>
          </a:solidFill>
          <a:uFillTx/>
          <a:latin typeface="Tahoma"/>
          <a:ea typeface="Tahoma"/>
          <a:cs typeface="Tahoma"/>
          <a:sym typeface="Tahoma"/>
        </a:defRPr>
      </a:lvl9pPr>
    </p:bodyStyle>
    <p:otherStyle>
      <a:lvl1pPr marL="0" marR="0" indent="0" algn="l"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Tahoma"/>
        </a:defRPr>
      </a:lvl1pPr>
      <a:lvl2pPr marL="0" marR="0" indent="0" algn="l"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Tahoma"/>
        </a:defRPr>
      </a:lvl2pPr>
      <a:lvl3pPr marL="0" marR="0" indent="0" algn="l"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Tahoma"/>
        </a:defRPr>
      </a:lvl3pPr>
      <a:lvl4pPr marL="0" marR="0" indent="0" algn="l"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Tahoma"/>
        </a:defRPr>
      </a:lvl4pPr>
      <a:lvl5pPr marL="0" marR="0" indent="0" algn="l"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Tahoma"/>
        </a:defRPr>
      </a:lvl5pPr>
      <a:lvl6pPr marL="0" marR="0" indent="0" algn="l"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Tahoma"/>
        </a:defRPr>
      </a:lvl6pPr>
      <a:lvl7pPr marL="0" marR="0" indent="0" algn="l"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Tahoma"/>
        </a:defRPr>
      </a:lvl7pPr>
      <a:lvl8pPr marL="0" marR="0" indent="0" algn="l"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Tahoma"/>
        </a:defRPr>
      </a:lvl8pPr>
      <a:lvl9pPr marL="0" marR="0" indent="0" algn="l"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Tahom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171575" y="327025"/>
            <a:ext cx="9227185" cy="737235"/>
          </a:xfrm>
          <a:prstGeom prst="rect">
            <a:avLst/>
          </a:prstGeom>
          <a:noFill/>
        </p:spPr>
        <p:txBody>
          <a:bodyPr wrap="square" rtlCol="0">
            <a:spAutoFit/>
          </a:bodyPr>
          <a:lstStyle/>
          <a:p>
            <a:pPr algn="l"/>
            <a:r>
              <a:rPr lang="en-US" altLang="zh-CN" sz="2100" b="1" dirty="0">
                <a:solidFill>
                  <a:srgbClr val="0B3565"/>
                </a:solidFill>
                <a:latin typeface="+mn-ea"/>
              </a:rPr>
              <a:t>The 4</a:t>
            </a:r>
            <a:r>
              <a:rPr lang="en-US" altLang="zh-CN" sz="2100" b="1" baseline="30000" dirty="0">
                <a:solidFill>
                  <a:srgbClr val="0B3565"/>
                </a:solidFill>
                <a:latin typeface="+mn-ea"/>
              </a:rPr>
              <a:t>th </a:t>
            </a:r>
            <a:r>
              <a:rPr lang="en-US" altLang="zh-CN" sz="2100" b="1" dirty="0">
                <a:solidFill>
                  <a:srgbClr val="0B3565"/>
                </a:solidFill>
                <a:latin typeface="+mn-ea"/>
              </a:rPr>
              <a:t>International Conference on Intelligent Computing </a:t>
            </a:r>
          </a:p>
          <a:p>
            <a:pPr algn="l"/>
            <a:r>
              <a:rPr lang="en-US" altLang="zh-CN" sz="2100" b="1" dirty="0">
                <a:solidFill>
                  <a:srgbClr val="0B3565"/>
                </a:solidFill>
                <a:latin typeface="+mn-ea"/>
              </a:rPr>
              <a:t>and Next Generation Networks (ICNGN 2025)</a:t>
            </a:r>
          </a:p>
        </p:txBody>
      </p:sp>
      <p:pic>
        <p:nvPicPr>
          <p:cNvPr id="3" name="图片 2" descr="Logo"/>
          <p:cNvPicPr>
            <a:picLocks noChangeAspect="1"/>
          </p:cNvPicPr>
          <p:nvPr/>
        </p:nvPicPr>
        <p:blipFill>
          <a:blip r:embed="rId2"/>
          <a:stretch>
            <a:fillRect/>
          </a:stretch>
        </p:blipFill>
        <p:spPr>
          <a:xfrm>
            <a:off x="99060" y="175260"/>
            <a:ext cx="1002030" cy="796925"/>
          </a:xfrm>
          <a:prstGeom prst="rect">
            <a:avLst/>
          </a:prstGeom>
        </p:spPr>
      </p:pic>
      <p:pic>
        <p:nvPicPr>
          <p:cNvPr id="5" name="图片 4" descr="PPT背景"/>
          <p:cNvPicPr>
            <a:picLocks noChangeAspect="1"/>
          </p:cNvPicPr>
          <p:nvPr/>
        </p:nvPicPr>
        <p:blipFill>
          <a:blip r:embed="rId3"/>
          <a:srcRect t="15699" b="4961"/>
          <a:stretch>
            <a:fillRect/>
          </a:stretch>
        </p:blipFill>
        <p:spPr>
          <a:xfrm>
            <a:off x="0" y="1417320"/>
            <a:ext cx="12192000" cy="5440680"/>
          </a:xfrm>
          <a:prstGeom prst="rect">
            <a:avLst/>
          </a:prstGeom>
        </p:spPr>
      </p:pic>
      <p:sp>
        <p:nvSpPr>
          <p:cNvPr id="4" name="文本框 3"/>
          <p:cNvSpPr txBox="1"/>
          <p:nvPr/>
        </p:nvSpPr>
        <p:spPr>
          <a:xfrm>
            <a:off x="1101089" y="2736501"/>
            <a:ext cx="10347571" cy="3385542"/>
          </a:xfrm>
          <a:prstGeom prst="rect">
            <a:avLst/>
          </a:prstGeom>
          <a:noFill/>
        </p:spPr>
        <p:txBody>
          <a:bodyPr wrap="square" rtlCol="0">
            <a:spAutoFit/>
          </a:bodyPr>
          <a:lstStyle/>
          <a:p>
            <a:pPr algn="ctr"/>
            <a:r>
              <a:rPr lang="en-US" sz="3600" dirty="0"/>
              <a:t>Alzheimer’s Disease Detection Using Deep Learning Models</a:t>
            </a:r>
          </a:p>
          <a:p>
            <a:pPr algn="ctr"/>
            <a:endParaRPr lang="en-US" altLang="zh-CN" dirty="0">
              <a:solidFill>
                <a:schemeClr val="bg1"/>
              </a:solidFill>
              <a:latin typeface="微软雅黑" panose="020B0503020204020204" charset="-122"/>
              <a:ea typeface="微软雅黑" panose="020B0503020204020204" charset="-122"/>
            </a:endParaRPr>
          </a:p>
          <a:p>
            <a:pPr algn="ctr"/>
            <a:endParaRPr lang="en-US" altLang="zh-CN" dirty="0">
              <a:solidFill>
                <a:schemeClr val="bg1"/>
              </a:solidFill>
              <a:latin typeface="微软雅黑" panose="020B0503020204020204" charset="-122"/>
              <a:ea typeface="微软雅黑" panose="020B0503020204020204" charset="-122"/>
            </a:endParaRPr>
          </a:p>
          <a:p>
            <a:pPr algn="ctr"/>
            <a:r>
              <a:rPr lang="en-US" altLang="zh-CN" sz="2200" dirty="0">
                <a:solidFill>
                  <a:schemeClr val="bg1"/>
                </a:solidFill>
                <a:latin typeface="微软雅黑" panose="020B0503020204020204" charset="-122"/>
                <a:ea typeface="微软雅黑" panose="020B0503020204020204" charset="-122"/>
              </a:rPr>
              <a:t>JEFF H</a:t>
            </a:r>
          </a:p>
          <a:p>
            <a:pPr algn="ctr"/>
            <a:r>
              <a:rPr lang="en-US" altLang="zh-CN" sz="2200" dirty="0">
                <a:solidFill>
                  <a:schemeClr val="bg1"/>
                </a:solidFill>
                <a:latin typeface="微软雅黑" panose="020B0503020204020204" charset="-122"/>
                <a:ea typeface="微软雅黑" panose="020B0503020204020204" charset="-122"/>
              </a:rPr>
              <a:t>II Year B.Tech CSE</a:t>
            </a:r>
          </a:p>
          <a:p>
            <a:pPr algn="ctr"/>
            <a:r>
              <a:rPr lang="en-US" altLang="zh-CN" sz="2200" dirty="0">
                <a:solidFill>
                  <a:schemeClr val="bg1"/>
                </a:solidFill>
                <a:latin typeface="微软雅黑" panose="020B0503020204020204" charset="-122"/>
                <a:ea typeface="微软雅黑" panose="020B0503020204020204" charset="-122"/>
              </a:rPr>
              <a:t>School of Computer Science and Engineering</a:t>
            </a:r>
          </a:p>
          <a:p>
            <a:pPr algn="ctr"/>
            <a:r>
              <a:rPr lang="en-US" altLang="zh-CN" sz="2200" dirty="0">
                <a:solidFill>
                  <a:schemeClr val="bg1"/>
                </a:solidFill>
                <a:latin typeface="微软雅黑" panose="020B0503020204020204" charset="-122"/>
                <a:ea typeface="微软雅黑" panose="020B0503020204020204" charset="-122"/>
              </a:rPr>
              <a:t>Vellore Institute of Technology, Chennai, India</a:t>
            </a:r>
          </a:p>
          <a:p>
            <a:pPr algn="ctr"/>
            <a:endParaRPr lang="en-US" altLang="zh-CN"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Footer Placeholder 7"/>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153"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154"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155" name="Title 1"/>
          <p:cNvSpPr txBox="1">
            <a:spLocks noGrp="1"/>
          </p:cNvSpPr>
          <p:nvPr>
            <p:ph type="title"/>
          </p:nvPr>
        </p:nvSpPr>
        <p:spPr>
          <a:xfrm>
            <a:off x="-747793" y="-175438"/>
            <a:ext cx="7423433" cy="1190629"/>
          </a:xfrm>
          <a:prstGeom prst="rect">
            <a:avLst/>
          </a:prstGeom>
        </p:spPr>
        <p:txBody>
          <a:bodyPr/>
          <a:lstStyle>
            <a:lvl1pPr algn="ctr">
              <a:defRPr sz="4000">
                <a:solidFill>
                  <a:srgbClr val="FFFFFF"/>
                </a:solidFill>
                <a:latin typeface="Times New Roman"/>
                <a:ea typeface="Times New Roman"/>
                <a:cs typeface="Times New Roman"/>
                <a:sym typeface="Times New Roman"/>
              </a:defRPr>
            </a:lvl1pPr>
          </a:lstStyle>
          <a:p>
            <a:r>
              <a:t>INTRODUCTION</a:t>
            </a:r>
          </a:p>
        </p:txBody>
      </p:sp>
      <p:sp>
        <p:nvSpPr>
          <p:cNvPr id="156" name="Slide Number Placeholder 4"/>
          <p:cNvSpPr txBox="1">
            <a:spLocks noGrp="1"/>
          </p:cNvSpPr>
          <p:nvPr>
            <p:ph type="sldNum" sz="quarter" idx="4294967295"/>
          </p:nvPr>
        </p:nvSpPr>
        <p:spPr>
          <a:xfrm>
            <a:off x="11377610" y="6540817"/>
            <a:ext cx="187332"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solidFill>
                  <a:srgbClr val="FFFFFF"/>
                </a:solidFill>
              </a:defRPr>
            </a:lvl1pPr>
          </a:lstStyle>
          <a:p>
            <a:fld id="{86CB4B4D-7CA3-9044-876B-883B54F8677D}" type="slidenum">
              <a:rPr/>
              <a:t>2</a:t>
            </a:fld>
            <a:endParaRPr/>
          </a:p>
        </p:txBody>
      </p:sp>
      <p:sp>
        <p:nvSpPr>
          <p:cNvPr id="157" name="Content Placeholder 5"/>
          <p:cNvSpPr txBox="1">
            <a:spLocks noGrp="1"/>
          </p:cNvSpPr>
          <p:nvPr>
            <p:ph type="body" idx="1"/>
          </p:nvPr>
        </p:nvSpPr>
        <p:spPr>
          <a:xfrm>
            <a:off x="454817" y="1185958"/>
            <a:ext cx="11488370" cy="5029692"/>
          </a:xfrm>
          <a:prstGeom prst="rect">
            <a:avLst/>
          </a:prstGeom>
        </p:spPr>
        <p:txBody>
          <a:bodyPr/>
          <a:lstStyle/>
          <a:p>
            <a:pPr algn="just">
              <a:buClr>
                <a:srgbClr val="00249C"/>
              </a:buClr>
              <a:buSzPct val="104999"/>
              <a:defRPr sz="2200">
                <a:solidFill>
                  <a:schemeClr val="accent6"/>
                </a:solidFill>
                <a:latin typeface="Times New Roman"/>
                <a:ea typeface="Times New Roman"/>
                <a:cs typeface="Times New Roman"/>
                <a:sym typeface="Times New Roman"/>
              </a:defRPr>
            </a:pPr>
            <a:endParaRPr/>
          </a:p>
          <a:p>
            <a:pPr algn="just">
              <a:buClr>
                <a:srgbClr val="00249C"/>
              </a:buClr>
              <a:buSzPct val="104999"/>
              <a:defRPr sz="2200">
                <a:solidFill>
                  <a:schemeClr val="accent6"/>
                </a:solidFill>
                <a:latin typeface="Times New Roman"/>
                <a:ea typeface="Times New Roman"/>
                <a:cs typeface="Times New Roman"/>
                <a:sym typeface="Times New Roman"/>
              </a:defRPr>
            </a:pPr>
            <a:r>
              <a:t>Alzheimer’s disease (AD) is the most common cause of dementia affecting millions worldwide and leading to progressive cognitive decline and loss of independence.  </a:t>
            </a:r>
          </a:p>
          <a:p>
            <a:pPr algn="just">
              <a:buClr>
                <a:srgbClr val="00249C"/>
              </a:buClr>
              <a:buSzPct val="104999"/>
              <a:defRPr sz="2200">
                <a:solidFill>
                  <a:schemeClr val="accent6"/>
                </a:solidFill>
                <a:latin typeface="Times New Roman"/>
                <a:ea typeface="Times New Roman"/>
                <a:cs typeface="Times New Roman"/>
                <a:sym typeface="Times New Roman"/>
              </a:defRPr>
            </a:pPr>
            <a:endParaRPr/>
          </a:p>
          <a:p>
            <a:pPr algn="just">
              <a:buClr>
                <a:srgbClr val="00249C"/>
              </a:buClr>
              <a:buSzPct val="104999"/>
              <a:defRPr sz="2200">
                <a:solidFill>
                  <a:schemeClr val="accent6"/>
                </a:solidFill>
                <a:latin typeface="Times New Roman"/>
                <a:ea typeface="Times New Roman"/>
                <a:cs typeface="Times New Roman"/>
                <a:sym typeface="Times New Roman"/>
              </a:defRPr>
            </a:pPr>
            <a:r>
              <a:t>Early detection is crucial but traditional tests often lack sensitivity especially in differentiating  AD from mild cognitive impairment (MCI).  </a:t>
            </a:r>
          </a:p>
          <a:p>
            <a:pPr algn="just">
              <a:buClr>
                <a:srgbClr val="00249C"/>
              </a:buClr>
              <a:buSzPct val="104999"/>
              <a:defRPr sz="2200">
                <a:solidFill>
                  <a:schemeClr val="accent6"/>
                </a:solidFill>
                <a:latin typeface="Times New Roman"/>
                <a:ea typeface="Times New Roman"/>
                <a:cs typeface="Times New Roman"/>
                <a:sym typeface="Times New Roman"/>
              </a:defRPr>
            </a:pPr>
            <a:endParaRPr/>
          </a:p>
          <a:p>
            <a:pPr algn="just">
              <a:buClr>
                <a:srgbClr val="00249C"/>
              </a:buClr>
              <a:buSzPct val="104999"/>
              <a:defRPr sz="2200">
                <a:solidFill>
                  <a:schemeClr val="accent6"/>
                </a:solidFill>
                <a:latin typeface="Times New Roman"/>
                <a:ea typeface="Times New Roman"/>
                <a:cs typeface="Times New Roman"/>
                <a:sym typeface="Times New Roman"/>
              </a:defRPr>
            </a:pPr>
            <a:r>
              <a:t>Neuroimaging (MRI) provides insights but is complex and time consuming for manual interpretation.  </a:t>
            </a:r>
          </a:p>
          <a:p>
            <a:pPr algn="just">
              <a:buClr>
                <a:srgbClr val="00249C"/>
              </a:buClr>
              <a:buSzPct val="104999"/>
              <a:defRPr sz="2200">
                <a:solidFill>
                  <a:schemeClr val="accent6"/>
                </a:solidFill>
                <a:latin typeface="Times New Roman"/>
                <a:ea typeface="Times New Roman"/>
                <a:cs typeface="Times New Roman"/>
                <a:sym typeface="Times New Roman"/>
              </a:defRPr>
            </a:pPr>
            <a:endParaRPr/>
          </a:p>
          <a:p>
            <a:pPr algn="just">
              <a:buClr>
                <a:srgbClr val="00249C"/>
              </a:buClr>
              <a:buSzPct val="104999"/>
              <a:defRPr sz="2200">
                <a:solidFill>
                  <a:schemeClr val="accent6"/>
                </a:solidFill>
                <a:latin typeface="Times New Roman"/>
                <a:ea typeface="Times New Roman"/>
                <a:cs typeface="Times New Roman"/>
                <a:sym typeface="Times New Roman"/>
              </a:defRPr>
            </a:pPr>
            <a:r>
              <a:t>Deep learning, particularly Convolutional Neural Networks (CNNs) offer an automated and efficient solution for detecting AD from MRI scans.  </a:t>
            </a:r>
          </a:p>
        </p:txBody>
      </p:sp>
      <p:sp>
        <p:nvSpPr>
          <p:cNvPr id="158" name="Date Placeholder 2"/>
          <p:cNvSpPr txBox="1"/>
          <p:nvPr/>
        </p:nvSpPr>
        <p:spPr>
          <a:xfrm>
            <a:off x="4853663" y="6573617"/>
            <a:ext cx="2994315" cy="2754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imes New Roman"/>
                <a:ea typeface="Times New Roman"/>
                <a:cs typeface="Times New Roman"/>
                <a:sym typeface="Times New Roman"/>
              </a:defRPr>
            </a:lvl1pPr>
          </a:lstStyle>
          <a:p>
            <a:r>
              <a:t>Vellore Institute of Technology, Chennai</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161"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162"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163" name="Title 1"/>
          <p:cNvSpPr txBox="1">
            <a:spLocks noGrp="1"/>
          </p:cNvSpPr>
          <p:nvPr>
            <p:ph type="title"/>
          </p:nvPr>
        </p:nvSpPr>
        <p:spPr>
          <a:xfrm>
            <a:off x="207896" y="90580"/>
            <a:ext cx="9826450" cy="658593"/>
          </a:xfrm>
          <a:prstGeom prst="rect">
            <a:avLst/>
          </a:prstGeom>
        </p:spPr>
        <p:txBody>
          <a:bodyPr/>
          <a:lstStyle/>
          <a:p>
            <a:pPr defTabSz="877822">
              <a:defRPr sz="3700"/>
            </a:pPr>
            <a:r>
              <a:t> </a:t>
            </a:r>
            <a:r>
              <a:rPr>
                <a:solidFill>
                  <a:srgbClr val="FFFFFF"/>
                </a:solidFill>
                <a:latin typeface="Times New Roman"/>
                <a:ea typeface="Times New Roman"/>
                <a:cs typeface="Times New Roman"/>
                <a:sym typeface="Times New Roman"/>
              </a:rPr>
              <a:t>PROBLEM STATEMENT</a:t>
            </a:r>
          </a:p>
        </p:txBody>
      </p:sp>
      <p:sp>
        <p:nvSpPr>
          <p:cNvPr id="164" name="Slide Number Placeholder 4"/>
          <p:cNvSpPr txBox="1">
            <a:spLocks noGrp="1"/>
          </p:cNvSpPr>
          <p:nvPr>
            <p:ph type="sldNum" sz="quarter" idx="4294967295"/>
          </p:nvPr>
        </p:nvSpPr>
        <p:spPr>
          <a:xfrm>
            <a:off x="11368085" y="6531485"/>
            <a:ext cx="187332"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solidFill>
                  <a:srgbClr val="FFFFFF"/>
                </a:solidFill>
              </a:defRPr>
            </a:lvl1pPr>
          </a:lstStyle>
          <a:p>
            <a:fld id="{86CB4B4D-7CA3-9044-876B-883B54F8677D}" type="slidenum">
              <a:rPr/>
              <a:t>3</a:t>
            </a:fld>
            <a:endParaRPr/>
          </a:p>
        </p:txBody>
      </p:sp>
      <p:sp>
        <p:nvSpPr>
          <p:cNvPr id="165" name="Content Placeholder 5"/>
          <p:cNvSpPr txBox="1">
            <a:spLocks noGrp="1"/>
          </p:cNvSpPr>
          <p:nvPr>
            <p:ph type="body" idx="1"/>
          </p:nvPr>
        </p:nvSpPr>
        <p:spPr>
          <a:xfrm>
            <a:off x="407193" y="1125405"/>
            <a:ext cx="11471618" cy="5290860"/>
          </a:xfrm>
          <a:prstGeom prst="rect">
            <a:avLst/>
          </a:prstGeom>
        </p:spPr>
        <p:txBody>
          <a:bodyPr/>
          <a:lstStyle/>
          <a:p>
            <a:pPr algn="just">
              <a:lnSpc>
                <a:spcPct val="150000"/>
              </a:lnSpc>
              <a:buClr>
                <a:srgbClr val="00249C"/>
              </a:buClr>
              <a:buSzPct val="104999"/>
              <a:defRPr sz="2200">
                <a:solidFill>
                  <a:schemeClr val="accent6"/>
                </a:solidFill>
                <a:latin typeface="Times New Roman"/>
                <a:ea typeface="Times New Roman"/>
                <a:cs typeface="Times New Roman"/>
                <a:sym typeface="Times New Roman"/>
              </a:defRPr>
            </a:pPr>
            <a:r>
              <a:t>Current diagnostic methods rely on cognitive assessments and expert interpretation of neuroimaging. </a:t>
            </a:r>
          </a:p>
          <a:p>
            <a:pPr algn="just">
              <a:lnSpc>
                <a:spcPct val="150000"/>
              </a:lnSpc>
              <a:buClr>
                <a:srgbClr val="00249C"/>
              </a:buClr>
              <a:buSzPct val="104999"/>
              <a:defRPr sz="2200">
                <a:solidFill>
                  <a:schemeClr val="accent6"/>
                </a:solidFill>
                <a:latin typeface="Times New Roman"/>
                <a:ea typeface="Times New Roman"/>
                <a:cs typeface="Times New Roman"/>
                <a:sym typeface="Times New Roman"/>
              </a:defRPr>
            </a:pPr>
            <a:r>
              <a:t>These approaches are time intensive and may fail to identify early stage AD where timely intervention is most effective.</a:t>
            </a:r>
          </a:p>
          <a:p>
            <a:pPr algn="just">
              <a:lnSpc>
                <a:spcPct val="150000"/>
              </a:lnSpc>
              <a:buClr>
                <a:srgbClr val="00249C"/>
              </a:buClr>
              <a:buSzPct val="104999"/>
              <a:defRPr sz="2200">
                <a:solidFill>
                  <a:schemeClr val="accent6"/>
                </a:solidFill>
                <a:latin typeface="Times New Roman"/>
                <a:ea typeface="Times New Roman"/>
                <a:cs typeface="Times New Roman"/>
                <a:sym typeface="Times New Roman"/>
              </a:defRPr>
            </a:pPr>
            <a:r>
              <a:t>Automated deep learning models have shown significant potential in analyzing neuroimaging data.</a:t>
            </a:r>
          </a:p>
          <a:p>
            <a:pPr algn="just">
              <a:lnSpc>
                <a:spcPct val="150000"/>
              </a:lnSpc>
              <a:buClr>
                <a:srgbClr val="00249C"/>
              </a:buClr>
              <a:buSzPct val="104999"/>
              <a:defRPr sz="2200">
                <a:solidFill>
                  <a:schemeClr val="accent6"/>
                </a:solidFill>
                <a:latin typeface="Times New Roman"/>
                <a:ea typeface="Times New Roman"/>
                <a:cs typeface="Times New Roman"/>
                <a:sym typeface="Times New Roman"/>
              </a:defRPr>
            </a:pPr>
            <a:r>
              <a:t> Therefore, developing a reliable, accurate and efficient automated system is essential for supporting clinicians in early AD diagnosis</a:t>
            </a:r>
          </a:p>
        </p:txBody>
      </p:sp>
      <p:sp>
        <p:nvSpPr>
          <p:cNvPr id="166" name="Date Placeholder 2"/>
          <p:cNvSpPr txBox="1"/>
          <p:nvPr/>
        </p:nvSpPr>
        <p:spPr>
          <a:xfrm>
            <a:off x="4853663" y="6573617"/>
            <a:ext cx="2994315" cy="2754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imes New Roman"/>
                <a:ea typeface="Times New Roman"/>
                <a:cs typeface="Times New Roman"/>
                <a:sym typeface="Times New Roman"/>
              </a:defRPr>
            </a:lvl1pPr>
          </a:lstStyle>
          <a:p>
            <a:r>
              <a:t>Vellore Institute of Technology, Chennai</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Slide Number"/>
          <p:cNvSpPr txBox="1">
            <a:spLocks noGrp="1"/>
          </p:cNvSpPr>
          <p:nvPr>
            <p:ph type="sldNum" sz="quarter" idx="4294967295"/>
          </p:nvPr>
        </p:nvSpPr>
        <p:spPr>
          <a:xfrm>
            <a:off x="-1" y="6581712"/>
            <a:ext cx="187331"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169"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170" name="Develop a deep learning system for automated Alzheimer’s detection using neuroimaging to improve early diagnosis and aid clinical decisions.…"/>
          <p:cNvSpPr txBox="1">
            <a:spLocks noGrp="1"/>
          </p:cNvSpPr>
          <p:nvPr>
            <p:ph type="body" idx="1"/>
          </p:nvPr>
        </p:nvSpPr>
        <p:spPr>
          <a:xfrm>
            <a:off x="407193" y="1125405"/>
            <a:ext cx="11471618" cy="5290860"/>
          </a:xfrm>
          <a:prstGeom prst="rect">
            <a:avLst/>
          </a:prstGeom>
        </p:spPr>
        <p:txBody>
          <a:bodyPr/>
          <a:lstStyle/>
          <a:p>
            <a:pPr algn="just">
              <a:buClr>
                <a:srgbClr val="00249C"/>
              </a:buClr>
              <a:buSzPct val="104999"/>
              <a:defRPr sz="2200">
                <a:solidFill>
                  <a:schemeClr val="accent6"/>
                </a:solidFill>
                <a:latin typeface="Times New Roman"/>
                <a:ea typeface="Times New Roman"/>
                <a:cs typeface="Times New Roman"/>
                <a:sym typeface="Times New Roman"/>
              </a:defRPr>
            </a:pPr>
            <a:r>
              <a:t>Develop a deep learning system for automated Alzheimer’s detection using neuroimaging to aid clinical decisions.</a:t>
            </a:r>
          </a:p>
          <a:p>
            <a:pPr algn="just">
              <a:buClr>
                <a:srgbClr val="00249C"/>
              </a:buClr>
              <a:buSzPct val="104999"/>
              <a:defRPr sz="2200">
                <a:solidFill>
                  <a:schemeClr val="accent6"/>
                </a:solidFill>
                <a:latin typeface="Times New Roman"/>
                <a:ea typeface="Times New Roman"/>
                <a:cs typeface="Times New Roman"/>
                <a:sym typeface="Times New Roman"/>
              </a:defRPr>
            </a:pPr>
            <a:endParaRPr/>
          </a:p>
          <a:p>
            <a:pPr algn="just">
              <a:buClr>
                <a:srgbClr val="00249C"/>
              </a:buClr>
              <a:buSzPct val="104999"/>
              <a:defRPr sz="2200">
                <a:solidFill>
                  <a:schemeClr val="accent6"/>
                </a:solidFill>
                <a:latin typeface="Times New Roman"/>
                <a:ea typeface="Times New Roman"/>
                <a:cs typeface="Times New Roman"/>
                <a:sym typeface="Times New Roman"/>
              </a:defRPr>
            </a:pPr>
            <a:r>
              <a:t>Evaluate ResNet50, MobileNetV2 and InceptionV3 for Alzheimer’s classification based on accuracy, sensitivity, specificity and efficiency.</a:t>
            </a:r>
          </a:p>
          <a:p>
            <a:pPr algn="just">
              <a:buClr>
                <a:srgbClr val="00249C"/>
              </a:buClr>
              <a:buSzPct val="104999"/>
              <a:defRPr sz="2200">
                <a:solidFill>
                  <a:schemeClr val="accent6"/>
                </a:solidFill>
                <a:latin typeface="Times New Roman"/>
                <a:ea typeface="Times New Roman"/>
                <a:cs typeface="Times New Roman"/>
                <a:sym typeface="Times New Roman"/>
              </a:defRPr>
            </a:pPr>
            <a:endParaRPr/>
          </a:p>
          <a:p>
            <a:pPr algn="just">
              <a:buClr>
                <a:srgbClr val="00249C"/>
              </a:buClr>
              <a:buSzPct val="104999"/>
              <a:defRPr sz="2200">
                <a:solidFill>
                  <a:schemeClr val="accent6"/>
                </a:solidFill>
                <a:latin typeface="Times New Roman"/>
                <a:ea typeface="Times New Roman"/>
                <a:cs typeface="Times New Roman"/>
                <a:sym typeface="Times New Roman"/>
              </a:defRPr>
            </a:pPr>
            <a:r>
              <a:t>Integrate Augmented Attention to enhance feature extraction and assess performance improvement in classification performance.</a:t>
            </a:r>
          </a:p>
        </p:txBody>
      </p:sp>
      <p:sp>
        <p:nvSpPr>
          <p:cNvPr id="171"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172"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173" name="Date Placeholder 2"/>
          <p:cNvSpPr txBox="1"/>
          <p:nvPr/>
        </p:nvSpPr>
        <p:spPr>
          <a:xfrm>
            <a:off x="4853663" y="6573617"/>
            <a:ext cx="2994315" cy="2754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imes New Roman"/>
                <a:ea typeface="Times New Roman"/>
                <a:cs typeface="Times New Roman"/>
                <a:sym typeface="Times New Roman"/>
              </a:defRPr>
            </a:lvl1pPr>
          </a:lstStyle>
          <a:p>
            <a:r>
              <a:t>Vellore Institute of Technology, Chennai</a:t>
            </a:r>
          </a:p>
        </p:txBody>
      </p:sp>
      <p:sp>
        <p:nvSpPr>
          <p:cNvPr id="174" name="Slide Number Placeholder 4"/>
          <p:cNvSpPr txBox="1"/>
          <p:nvPr/>
        </p:nvSpPr>
        <p:spPr>
          <a:xfrm>
            <a:off x="11368085" y="6531485"/>
            <a:ext cx="187332"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4</a:t>
            </a:r>
          </a:p>
        </p:txBody>
      </p:sp>
      <p:sp>
        <p:nvSpPr>
          <p:cNvPr id="175" name="RESEARCH OBJECTIVE"/>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RESEARCH OBJECTIVE</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178"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179"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180" name="Title 1"/>
          <p:cNvSpPr txBox="1">
            <a:spLocks noGrp="1"/>
          </p:cNvSpPr>
          <p:nvPr>
            <p:ph type="title"/>
          </p:nvPr>
        </p:nvSpPr>
        <p:spPr>
          <a:xfrm>
            <a:off x="207896" y="90580"/>
            <a:ext cx="9826450" cy="658593"/>
          </a:xfrm>
          <a:prstGeom prst="rect">
            <a:avLst/>
          </a:prstGeom>
        </p:spPr>
        <p:txBody>
          <a:bodyPr/>
          <a:lstStyle/>
          <a:p>
            <a:pPr lvl="1">
              <a:defRPr sz="3900">
                <a:solidFill>
                  <a:srgbClr val="FFFFFF"/>
                </a:solidFill>
                <a:latin typeface="Times New Roman"/>
                <a:ea typeface="Times New Roman"/>
                <a:cs typeface="Times New Roman"/>
                <a:sym typeface="Times New Roman"/>
              </a:defRPr>
            </a:pPr>
            <a:r>
              <a:t>     PROPOSED SYSTEM</a:t>
            </a:r>
          </a:p>
        </p:txBody>
      </p:sp>
      <p:sp>
        <p:nvSpPr>
          <p:cNvPr id="181" name="Slide Number Placeholder 4"/>
          <p:cNvSpPr txBox="1">
            <a:spLocks noGrp="1"/>
          </p:cNvSpPr>
          <p:nvPr>
            <p:ph type="sldNum" sz="quarter" idx="4294967295"/>
          </p:nvPr>
        </p:nvSpPr>
        <p:spPr>
          <a:xfrm>
            <a:off x="11368085" y="6505702"/>
            <a:ext cx="187332"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solidFill>
                  <a:srgbClr val="FFFFFF"/>
                </a:solidFill>
              </a:defRPr>
            </a:lvl1pPr>
          </a:lstStyle>
          <a:p>
            <a:fld id="{86CB4B4D-7CA3-9044-876B-883B54F8677D}" type="slidenum">
              <a:rPr/>
              <a:t>5</a:t>
            </a:fld>
            <a:endParaRPr/>
          </a:p>
        </p:txBody>
      </p:sp>
      <p:sp>
        <p:nvSpPr>
          <p:cNvPr id="182" name="Content Placeholder 5"/>
          <p:cNvSpPr txBox="1">
            <a:spLocks noGrp="1"/>
          </p:cNvSpPr>
          <p:nvPr>
            <p:ph type="body" idx="1"/>
          </p:nvPr>
        </p:nvSpPr>
        <p:spPr>
          <a:xfrm>
            <a:off x="244027" y="1127476"/>
            <a:ext cx="11703946" cy="5172866"/>
          </a:xfrm>
          <a:prstGeom prst="rect">
            <a:avLst/>
          </a:prstGeom>
        </p:spPr>
        <p:txBody>
          <a:bodyPr/>
          <a:lstStyle/>
          <a:p>
            <a:pPr marL="171450" indent="-171450">
              <a:lnSpc>
                <a:spcPct val="200000"/>
              </a:lnSpc>
              <a:spcBef>
                <a:spcPts val="300"/>
              </a:spcBef>
              <a:buClr>
                <a:srgbClr val="00249C"/>
              </a:buClr>
              <a:buFontTx/>
              <a:defRPr sz="2100">
                <a:solidFill>
                  <a:schemeClr val="accent6"/>
                </a:solidFill>
                <a:latin typeface="Times New Roman"/>
                <a:ea typeface="Times New Roman"/>
                <a:cs typeface="Times New Roman"/>
                <a:sym typeface="Times New Roman"/>
              </a:defRPr>
            </a:pPr>
            <a:r>
              <a:t>Early detection of Alzheimer’s disease is crucial for timely intervention but diagnosing it remains challenging due to subtle symptoms and complex neuroimaging patterns.</a:t>
            </a:r>
          </a:p>
          <a:p>
            <a:pPr marL="171450" indent="-171450">
              <a:lnSpc>
                <a:spcPct val="200000"/>
              </a:lnSpc>
              <a:spcBef>
                <a:spcPts val="300"/>
              </a:spcBef>
              <a:buClr>
                <a:srgbClr val="00249C"/>
              </a:buClr>
              <a:buFontTx/>
              <a:defRPr sz="2100">
                <a:solidFill>
                  <a:schemeClr val="accent6"/>
                </a:solidFill>
                <a:latin typeface="Times New Roman"/>
                <a:ea typeface="Times New Roman"/>
                <a:cs typeface="Times New Roman"/>
                <a:sym typeface="Times New Roman"/>
              </a:defRPr>
            </a:pPr>
            <a:r>
              <a:t> We analyze a deep learning based system using MRI images for early detection and classification.</a:t>
            </a:r>
          </a:p>
          <a:p>
            <a:pPr marL="657225" lvl="1" indent="-200025">
              <a:lnSpc>
                <a:spcPct val="200000"/>
              </a:lnSpc>
              <a:spcBef>
                <a:spcPts val="300"/>
              </a:spcBef>
              <a:buClr>
                <a:srgbClr val="00249C"/>
              </a:buClr>
              <a:buFontTx/>
              <a:defRPr sz="2100">
                <a:solidFill>
                  <a:schemeClr val="accent6"/>
                </a:solidFill>
                <a:latin typeface="Times New Roman"/>
                <a:ea typeface="Times New Roman"/>
                <a:cs typeface="Times New Roman"/>
                <a:sym typeface="Times New Roman"/>
              </a:defRPr>
            </a:pPr>
            <a:r>
              <a:t>MobileNetV2</a:t>
            </a:r>
          </a:p>
          <a:p>
            <a:pPr marL="657225" lvl="1" indent="-200025">
              <a:lnSpc>
                <a:spcPct val="200000"/>
              </a:lnSpc>
              <a:spcBef>
                <a:spcPts val="300"/>
              </a:spcBef>
              <a:buClr>
                <a:srgbClr val="00249C"/>
              </a:buClr>
              <a:buFontTx/>
              <a:defRPr sz="2100">
                <a:solidFill>
                  <a:schemeClr val="accent6"/>
                </a:solidFill>
                <a:latin typeface="Times New Roman"/>
                <a:ea typeface="Times New Roman"/>
                <a:cs typeface="Times New Roman"/>
                <a:sym typeface="Times New Roman"/>
              </a:defRPr>
            </a:pPr>
            <a:r>
              <a:t>ResNet50</a:t>
            </a:r>
          </a:p>
          <a:p>
            <a:pPr marL="657225" lvl="1" indent="-200025">
              <a:lnSpc>
                <a:spcPct val="200000"/>
              </a:lnSpc>
              <a:spcBef>
                <a:spcPts val="300"/>
              </a:spcBef>
              <a:buClr>
                <a:srgbClr val="00249C"/>
              </a:buClr>
              <a:buFontTx/>
              <a:defRPr sz="2100">
                <a:solidFill>
                  <a:schemeClr val="accent6"/>
                </a:solidFill>
                <a:latin typeface="Times New Roman"/>
                <a:ea typeface="Times New Roman"/>
                <a:cs typeface="Times New Roman"/>
                <a:sym typeface="Times New Roman"/>
              </a:defRPr>
            </a:pPr>
            <a:r>
              <a:t>InceptionV3</a:t>
            </a:r>
          </a:p>
          <a:p>
            <a:pPr marL="657225" lvl="1" indent="-200025">
              <a:lnSpc>
                <a:spcPct val="200000"/>
              </a:lnSpc>
              <a:spcBef>
                <a:spcPts val="300"/>
              </a:spcBef>
              <a:buClr>
                <a:srgbClr val="00249C"/>
              </a:buClr>
              <a:buFontTx/>
              <a:defRPr sz="2100">
                <a:solidFill>
                  <a:schemeClr val="accent6"/>
                </a:solidFill>
                <a:latin typeface="Times New Roman"/>
                <a:ea typeface="Times New Roman"/>
                <a:cs typeface="Times New Roman"/>
                <a:sym typeface="Times New Roman"/>
              </a:defRPr>
            </a:pPr>
            <a:r>
              <a:t>Incorporated Augmented Attention</a:t>
            </a:r>
          </a:p>
        </p:txBody>
      </p:sp>
      <p:sp>
        <p:nvSpPr>
          <p:cNvPr id="183"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Slide Number"/>
          <p:cNvSpPr txBox="1">
            <a:spLocks noGrp="1"/>
          </p:cNvSpPr>
          <p:nvPr>
            <p:ph type="sldNum" sz="quarter" idx="4294967295"/>
          </p:nvPr>
        </p:nvSpPr>
        <p:spPr>
          <a:xfrm>
            <a:off x="-1" y="6581712"/>
            <a:ext cx="187331"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sp>
        <p:nvSpPr>
          <p:cNvPr id="194"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195" name="Objective: Clean and prepare MRI images for model training.…"/>
          <p:cNvSpPr txBox="1">
            <a:spLocks noGrp="1"/>
          </p:cNvSpPr>
          <p:nvPr>
            <p:ph type="body" idx="1"/>
          </p:nvPr>
        </p:nvSpPr>
        <p:spPr>
          <a:xfrm>
            <a:off x="207896" y="875726"/>
            <a:ext cx="11471618" cy="5290860"/>
          </a:xfrm>
          <a:prstGeom prst="rect">
            <a:avLst/>
          </a:prstGeom>
        </p:spPr>
        <p:txBody>
          <a:bodyPr/>
          <a:lstStyle/>
          <a:p>
            <a:pPr marL="0" indent="0">
              <a:lnSpc>
                <a:spcPct val="150000"/>
              </a:lnSpc>
              <a:spcBef>
                <a:spcPts val="300"/>
              </a:spcBef>
              <a:buSzTx/>
              <a:buNone/>
              <a:defRPr sz="2100">
                <a:solidFill>
                  <a:schemeClr val="accent6"/>
                </a:solidFill>
                <a:latin typeface="Times New Roman"/>
                <a:ea typeface="Times New Roman"/>
                <a:cs typeface="Times New Roman"/>
                <a:sym typeface="Times New Roman"/>
              </a:defRPr>
            </a:pPr>
            <a:r>
              <a:t> </a:t>
            </a:r>
            <a:r>
              <a:rPr b="1"/>
              <a:t>Preprocessing steps:</a:t>
            </a:r>
          </a:p>
          <a:p>
            <a:pPr marL="171450" indent="-171450">
              <a:lnSpc>
                <a:spcPct val="150000"/>
              </a:lnSpc>
              <a:spcBef>
                <a:spcPts val="300"/>
              </a:spcBef>
              <a:buClr>
                <a:srgbClr val="00249C"/>
              </a:buClr>
              <a:buFontTx/>
              <a:defRPr sz="2100">
                <a:solidFill>
                  <a:schemeClr val="accent6"/>
                </a:solidFill>
                <a:latin typeface="Times New Roman"/>
                <a:ea typeface="Times New Roman"/>
                <a:cs typeface="Times New Roman"/>
                <a:sym typeface="Times New Roman"/>
              </a:defRPr>
            </a:pPr>
            <a:r>
              <a:t>Noise reduction.</a:t>
            </a:r>
          </a:p>
          <a:p>
            <a:pPr marL="171450" indent="-171450">
              <a:lnSpc>
                <a:spcPct val="150000"/>
              </a:lnSpc>
              <a:spcBef>
                <a:spcPts val="300"/>
              </a:spcBef>
              <a:buClr>
                <a:srgbClr val="00249C"/>
              </a:buClr>
              <a:buFontTx/>
              <a:defRPr sz="2100">
                <a:solidFill>
                  <a:schemeClr val="accent6"/>
                </a:solidFill>
                <a:latin typeface="Times New Roman"/>
                <a:ea typeface="Times New Roman"/>
                <a:cs typeface="Times New Roman"/>
                <a:sym typeface="Times New Roman"/>
              </a:defRPr>
            </a:pPr>
            <a:r>
              <a:t>Image resizing for model compatibility</a:t>
            </a:r>
          </a:p>
          <a:p>
            <a:pPr marL="171450" indent="-171450">
              <a:lnSpc>
                <a:spcPct val="150000"/>
              </a:lnSpc>
              <a:spcBef>
                <a:spcPts val="300"/>
              </a:spcBef>
              <a:buClr>
                <a:srgbClr val="00249C"/>
              </a:buClr>
              <a:buFontTx/>
              <a:defRPr sz="2100">
                <a:solidFill>
                  <a:schemeClr val="accent6"/>
                </a:solidFill>
                <a:latin typeface="Times New Roman"/>
                <a:ea typeface="Times New Roman"/>
                <a:cs typeface="Times New Roman"/>
                <a:sym typeface="Times New Roman"/>
              </a:defRPr>
            </a:pPr>
            <a:r>
              <a:t>Image augmentation (e.g., rotation, flipping, brightness adjustments) to increase data diversity.</a:t>
            </a:r>
          </a:p>
          <a:p>
            <a:pPr marL="0" indent="0">
              <a:lnSpc>
                <a:spcPct val="150000"/>
              </a:lnSpc>
              <a:spcBef>
                <a:spcPts val="300"/>
              </a:spcBef>
              <a:buSzTx/>
              <a:buNone/>
              <a:defRPr sz="2100">
                <a:solidFill>
                  <a:schemeClr val="accent6"/>
                </a:solidFill>
                <a:latin typeface="Times New Roman"/>
                <a:ea typeface="Times New Roman"/>
                <a:cs typeface="Times New Roman"/>
                <a:sym typeface="Times New Roman"/>
              </a:defRPr>
            </a:pPr>
            <a:r>
              <a:t>Dataset: ADNI  - 4 Classes</a:t>
            </a:r>
          </a:p>
        </p:txBody>
      </p:sp>
      <p:sp>
        <p:nvSpPr>
          <p:cNvPr id="196"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197"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198"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199" name="Slide Number Placeholder 4"/>
          <p:cNvSpPr txBox="1"/>
          <p:nvPr/>
        </p:nvSpPr>
        <p:spPr>
          <a:xfrm>
            <a:off x="11368085" y="6531485"/>
            <a:ext cx="187332"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9</a:t>
            </a:r>
          </a:p>
        </p:txBody>
      </p:sp>
      <p:sp>
        <p:nvSpPr>
          <p:cNvPr id="200" name="DATA COLLECTION AND PREPROCESSING"/>
          <p:cNvSpPr txBox="1">
            <a:spLocks noGrp="1"/>
          </p:cNvSpPr>
          <p:nvPr>
            <p:ph type="title"/>
          </p:nvPr>
        </p:nvSpPr>
        <p:spPr>
          <a:xfrm>
            <a:off x="207896" y="90580"/>
            <a:ext cx="9826450" cy="658593"/>
          </a:xfrm>
          <a:prstGeom prst="rect">
            <a:avLst/>
          </a:prstGeom>
        </p:spPr>
        <p:txBody>
          <a:bodyPr/>
          <a:lstStyle>
            <a:lvl1pPr defTabSz="859536">
              <a:defRPr sz="3600">
                <a:solidFill>
                  <a:srgbClr val="FFFFFF"/>
                </a:solidFill>
                <a:latin typeface="Times New Roman"/>
                <a:ea typeface="Times New Roman"/>
                <a:cs typeface="Times New Roman"/>
                <a:sym typeface="Times New Roman"/>
              </a:defRPr>
            </a:lvl1pPr>
          </a:lstStyle>
          <a:p>
            <a:r>
              <a:rPr dirty="0"/>
              <a:t>DATA</a:t>
            </a:r>
            <a:r>
              <a:rPr lang="en-IN" dirty="0"/>
              <a:t>SET</a:t>
            </a:r>
            <a:endParaRPr dirty="0"/>
          </a:p>
        </p:txBody>
      </p:sp>
      <p:graphicFrame>
        <p:nvGraphicFramePr>
          <p:cNvPr id="201" name="Table 3"/>
          <p:cNvGraphicFramePr/>
          <p:nvPr/>
        </p:nvGraphicFramePr>
        <p:xfrm>
          <a:off x="1414020" y="3502076"/>
          <a:ext cx="5731497" cy="2667072"/>
        </p:xfrm>
        <a:graphic>
          <a:graphicData uri="http://schemas.openxmlformats.org/drawingml/2006/table">
            <a:tbl>
              <a:tblPr firstRow="1" bandRow="1">
                <a:tableStyleId>{4C3C2611-4C71-4FC5-86AE-919BDF0F9419}</a:tableStyleId>
              </a:tblPr>
              <a:tblGrid>
                <a:gridCol w="2526787">
                  <a:extLst>
                    <a:ext uri="{9D8B030D-6E8A-4147-A177-3AD203B41FA5}">
                      <a16:colId xmlns:a16="http://schemas.microsoft.com/office/drawing/2014/main" val="20000"/>
                    </a:ext>
                  </a:extLst>
                </a:gridCol>
                <a:gridCol w="3204710">
                  <a:extLst>
                    <a:ext uri="{9D8B030D-6E8A-4147-A177-3AD203B41FA5}">
                      <a16:colId xmlns:a16="http://schemas.microsoft.com/office/drawing/2014/main" val="20001"/>
                    </a:ext>
                  </a:extLst>
                </a:gridCol>
              </a:tblGrid>
              <a:tr h="379966">
                <a:tc>
                  <a:txBody>
                    <a:bodyPr/>
                    <a:lstStyle/>
                    <a:p>
                      <a:pPr defTabSz="457200">
                        <a:defRPr sz="1800">
                          <a:solidFill>
                            <a:srgbClr val="000000"/>
                          </a:solidFill>
                        </a:defRPr>
                      </a:pPr>
                      <a:r>
                        <a:rPr b="1">
                          <a:latin typeface="Times New Roman"/>
                          <a:ea typeface="Times New Roman"/>
                          <a:cs typeface="Times New Roman"/>
                          <a:sym typeface="Times New Roman"/>
                        </a:rPr>
                        <a:t>Class</a:t>
                      </a:r>
                    </a:p>
                  </a:txBody>
                  <a:tcPr marL="45720" marR="45720" horzOverflow="overflow">
                    <a:lnL w="12700">
                      <a:solidFill>
                        <a:srgbClr val="FFFFFF"/>
                      </a:solidFill>
                    </a:lnL>
                    <a:lnR w="12700">
                      <a:solidFill>
                        <a:srgbClr val="FFFFFF"/>
                      </a:solidFill>
                    </a:lnR>
                    <a:lnT w="38100">
                      <a:solidFill>
                        <a:srgbClr val="FFFFFF"/>
                      </a:solidFill>
                    </a:lnT>
                    <a:lnB w="38100">
                      <a:solidFill>
                        <a:srgbClr val="FFFFFF"/>
                      </a:solidFill>
                    </a:lnB>
                    <a:solidFill>
                      <a:schemeClr val="accent2">
                        <a:lumOff val="-8823"/>
                      </a:schemeClr>
                    </a:solidFill>
                  </a:tcPr>
                </a:tc>
                <a:tc>
                  <a:txBody>
                    <a:bodyPr/>
                    <a:lstStyle/>
                    <a:p>
                      <a:pPr defTabSz="457200">
                        <a:defRPr sz="1800">
                          <a:solidFill>
                            <a:srgbClr val="000000"/>
                          </a:solidFill>
                        </a:defRPr>
                      </a:pPr>
                      <a:r>
                        <a:rPr b="1">
                          <a:latin typeface="Times New Roman"/>
                          <a:ea typeface="Times New Roman"/>
                          <a:cs typeface="Times New Roman"/>
                          <a:sym typeface="Times New Roman"/>
                        </a:rPr>
                        <a:t>Count</a:t>
                      </a:r>
                    </a:p>
                  </a:txBody>
                  <a:tcPr marL="45720" marR="45720" horzOverflow="overflow">
                    <a:lnL w="12700">
                      <a:solidFill>
                        <a:srgbClr val="FFFFFF"/>
                      </a:solidFill>
                    </a:lnL>
                    <a:lnR w="12700">
                      <a:solidFill>
                        <a:srgbClr val="FFFFFF"/>
                      </a:solidFill>
                    </a:lnR>
                    <a:lnT w="38100">
                      <a:solidFill>
                        <a:srgbClr val="447671"/>
                      </a:solidFill>
                    </a:lnT>
                    <a:lnB w="38100">
                      <a:solidFill>
                        <a:srgbClr val="447671"/>
                      </a:solidFill>
                    </a:lnB>
                    <a:solidFill>
                      <a:schemeClr val="accent2">
                        <a:lumOff val="-8823"/>
                      </a:schemeClr>
                    </a:solidFill>
                  </a:tcPr>
                </a:tc>
                <a:extLst>
                  <a:ext uri="{0D108BD9-81ED-4DB2-BD59-A6C34878D82A}">
                    <a16:rowId xmlns:a16="http://schemas.microsoft.com/office/drawing/2014/main" val="10000"/>
                  </a:ext>
                </a:extLst>
              </a:tr>
              <a:tr h="647892">
                <a:tc>
                  <a:txBody>
                    <a:bodyPr/>
                    <a:lstStyle/>
                    <a:p>
                      <a:pPr defTabSz="457200">
                        <a:defRPr sz="1800">
                          <a:solidFill>
                            <a:srgbClr val="000000"/>
                          </a:solidFill>
                        </a:defRPr>
                      </a:pPr>
                      <a:r>
                        <a:rPr>
                          <a:latin typeface="Times New Roman"/>
                          <a:ea typeface="Times New Roman"/>
                          <a:cs typeface="Times New Roman"/>
                          <a:sym typeface="Times New Roman"/>
                        </a:rPr>
                        <a:t>Non Demented</a:t>
                      </a:r>
                    </a:p>
                  </a:txBody>
                  <a:tcPr marL="45720" marR="45720" horzOverflow="overflow">
                    <a:lnL w="12700">
                      <a:solidFill>
                        <a:srgbClr val="FFFFFF"/>
                      </a:solidFill>
                    </a:lnL>
                    <a:lnR w="12700">
                      <a:solidFill>
                        <a:srgbClr val="447671"/>
                      </a:solidFill>
                    </a:lnR>
                    <a:lnT w="38100">
                      <a:solidFill>
                        <a:srgbClr val="FFFFFF"/>
                      </a:solidFill>
                    </a:lnT>
                    <a:lnB w="12700">
                      <a:solidFill>
                        <a:srgbClr val="FFFFFF"/>
                      </a:solidFill>
                    </a:lnB>
                    <a:gradFill flip="none" rotWithShape="1">
                      <a:gsLst>
                        <a:gs pos="0">
                          <a:srgbClr val="9AD0FA"/>
                        </a:gs>
                        <a:gs pos="50000">
                          <a:srgbClr val="8DC6F1"/>
                        </a:gs>
                        <a:gs pos="100000">
                          <a:srgbClr val="78BFF0"/>
                        </a:gs>
                      </a:gsLst>
                      <a:lin ang="5400000" scaled="0"/>
                    </a:gradFill>
                  </a:tcPr>
                </a:tc>
                <a:tc>
                  <a:txBody>
                    <a:bodyPr/>
                    <a:lstStyle/>
                    <a:p>
                      <a:pPr defTabSz="457200">
                        <a:defRPr sz="1800">
                          <a:solidFill>
                            <a:srgbClr val="000000"/>
                          </a:solidFill>
                        </a:defRPr>
                      </a:pPr>
                      <a:r>
                        <a:rPr>
                          <a:latin typeface="Times New Roman"/>
                          <a:ea typeface="Times New Roman"/>
                          <a:cs typeface="Times New Roman"/>
                          <a:sym typeface="Times New Roman"/>
                        </a:rPr>
                        <a:t>9600 </a:t>
                      </a:r>
                    </a:p>
                  </a:txBody>
                  <a:tcPr marL="45720" marR="45720" horzOverflow="overflow">
                    <a:lnL w="12700">
                      <a:solidFill>
                        <a:srgbClr val="447671"/>
                      </a:solidFill>
                    </a:lnL>
                    <a:lnR w="12700">
                      <a:solidFill>
                        <a:srgbClr val="447671"/>
                      </a:solidFill>
                    </a:lnR>
                    <a:lnT w="38100">
                      <a:solidFill>
                        <a:srgbClr val="447671"/>
                      </a:solidFill>
                    </a:lnT>
                    <a:lnB w="12700">
                      <a:solidFill>
                        <a:srgbClr val="447671"/>
                      </a:solidFill>
                    </a:lnB>
                    <a:gradFill flip="none" rotWithShape="1">
                      <a:gsLst>
                        <a:gs pos="0">
                          <a:srgbClr val="9AD0FA"/>
                        </a:gs>
                        <a:gs pos="50000">
                          <a:srgbClr val="8DC6F1"/>
                        </a:gs>
                        <a:gs pos="100000">
                          <a:srgbClr val="78BFF0"/>
                        </a:gs>
                      </a:gsLst>
                      <a:lin ang="5400000" scaled="0"/>
                    </a:gradFill>
                  </a:tcPr>
                </a:tc>
                <a:extLst>
                  <a:ext uri="{0D108BD9-81ED-4DB2-BD59-A6C34878D82A}">
                    <a16:rowId xmlns:a16="http://schemas.microsoft.com/office/drawing/2014/main" val="10001"/>
                  </a:ext>
                </a:extLst>
              </a:tr>
              <a:tr h="635713">
                <a:tc>
                  <a:txBody>
                    <a:bodyPr/>
                    <a:lstStyle/>
                    <a:p>
                      <a:pPr defTabSz="457200">
                        <a:defRPr sz="1800">
                          <a:solidFill>
                            <a:srgbClr val="000000"/>
                          </a:solidFill>
                        </a:defRPr>
                      </a:pPr>
                      <a:r>
                        <a:rPr>
                          <a:latin typeface="Times New Roman"/>
                          <a:ea typeface="Times New Roman"/>
                          <a:cs typeface="Times New Roman"/>
                          <a:sym typeface="Times New Roman"/>
                        </a:rPr>
                        <a:t>Mild Demented</a:t>
                      </a:r>
                    </a:p>
                  </a:txBody>
                  <a:tcPr marL="45720" marR="4572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defTabSz="457200">
                        <a:defRPr sz="1800">
                          <a:solidFill>
                            <a:srgbClr val="000000"/>
                          </a:solidFill>
                        </a:defRPr>
                      </a:pPr>
                      <a:r>
                        <a:rPr>
                          <a:latin typeface="Times New Roman"/>
                          <a:ea typeface="Times New Roman"/>
                          <a:cs typeface="Times New Roman"/>
                          <a:sym typeface="Times New Roman"/>
                        </a:rPr>
                        <a:t>8960 </a:t>
                      </a:r>
                    </a:p>
                  </a:txBody>
                  <a:tcPr marL="45720" marR="45720" horzOverflow="overflow">
                    <a:lnL w="12700">
                      <a:solidFill>
                        <a:srgbClr val="FFFFFF"/>
                      </a:solidFill>
                    </a:lnL>
                    <a:lnR w="12700">
                      <a:solidFill>
                        <a:srgbClr val="FFFFFF"/>
                      </a:solidFill>
                    </a:lnR>
                    <a:lnT w="12700">
                      <a:solidFill>
                        <a:srgbClr val="447671"/>
                      </a:solidFill>
                    </a:lnT>
                    <a:lnB w="12700">
                      <a:solidFill>
                        <a:srgbClr val="FFFFFF"/>
                      </a:solidFill>
                    </a:lnB>
                    <a:solidFill>
                      <a:srgbClr val="7FD1F0"/>
                    </a:solidFill>
                  </a:tcPr>
                </a:tc>
                <a:extLst>
                  <a:ext uri="{0D108BD9-81ED-4DB2-BD59-A6C34878D82A}">
                    <a16:rowId xmlns:a16="http://schemas.microsoft.com/office/drawing/2014/main" val="10002"/>
                  </a:ext>
                </a:extLst>
              </a:tr>
              <a:tr h="635713">
                <a:tc>
                  <a:txBody>
                    <a:bodyPr/>
                    <a:lstStyle/>
                    <a:p>
                      <a:pPr defTabSz="457200">
                        <a:defRPr sz="1800">
                          <a:solidFill>
                            <a:srgbClr val="000000"/>
                          </a:solidFill>
                        </a:defRPr>
                      </a:pPr>
                      <a:r>
                        <a:rPr>
                          <a:latin typeface="Times New Roman"/>
                          <a:ea typeface="Times New Roman"/>
                          <a:cs typeface="Times New Roman"/>
                          <a:sym typeface="Times New Roman"/>
                        </a:rPr>
                        <a:t>Very Mild Demented</a:t>
                      </a:r>
                    </a:p>
                  </a:txBody>
                  <a:tcPr marL="45720" marR="45720" horzOverflow="overflow">
                    <a:lnL w="12700">
                      <a:solidFill>
                        <a:srgbClr val="FFFFFF"/>
                      </a:solidFill>
                    </a:lnL>
                    <a:lnR w="12700">
                      <a:solidFill>
                        <a:srgbClr val="FFFFFF"/>
                      </a:solidFill>
                    </a:lnR>
                    <a:lnT w="12700">
                      <a:solidFill>
                        <a:srgbClr val="FFFFFF"/>
                      </a:solidFill>
                    </a:lnT>
                    <a:lnB w="12700">
                      <a:solidFill>
                        <a:srgbClr val="FFFFFF"/>
                      </a:solidFill>
                    </a:lnB>
                    <a:gradFill flip="none" rotWithShape="1">
                      <a:gsLst>
                        <a:gs pos="0">
                          <a:srgbClr val="9AD0FA"/>
                        </a:gs>
                        <a:gs pos="50000">
                          <a:srgbClr val="8DC6F1"/>
                        </a:gs>
                        <a:gs pos="100000">
                          <a:srgbClr val="78BFF0"/>
                        </a:gs>
                      </a:gsLst>
                      <a:lin ang="5400000" scaled="0"/>
                    </a:gradFill>
                  </a:tcPr>
                </a:tc>
                <a:tc>
                  <a:txBody>
                    <a:bodyPr/>
                    <a:lstStyle/>
                    <a:p>
                      <a:pPr defTabSz="457200">
                        <a:defRPr sz="1800">
                          <a:solidFill>
                            <a:srgbClr val="000000"/>
                          </a:solidFill>
                        </a:defRPr>
                      </a:pPr>
                      <a:r>
                        <a:rPr>
                          <a:latin typeface="Times New Roman"/>
                          <a:ea typeface="Times New Roman"/>
                          <a:cs typeface="Times New Roman"/>
                          <a:sym typeface="Times New Roman"/>
                        </a:rPr>
                        <a:t>8960</a:t>
                      </a:r>
                    </a:p>
                  </a:txBody>
                  <a:tcPr marL="45720" marR="45720" horzOverflow="overflow">
                    <a:lnL w="12700">
                      <a:solidFill>
                        <a:srgbClr val="FFFFFF"/>
                      </a:solidFill>
                    </a:lnL>
                    <a:lnR w="12700">
                      <a:solidFill>
                        <a:srgbClr val="FFFFFF"/>
                      </a:solidFill>
                    </a:lnR>
                    <a:lnT w="12700">
                      <a:solidFill>
                        <a:srgbClr val="FFFFFF"/>
                      </a:solidFill>
                    </a:lnT>
                    <a:lnB w="12700">
                      <a:solidFill>
                        <a:srgbClr val="FFFFFF"/>
                      </a:solidFill>
                    </a:lnB>
                    <a:gradFill flip="none" rotWithShape="1">
                      <a:gsLst>
                        <a:gs pos="0">
                          <a:srgbClr val="9AD0FA"/>
                        </a:gs>
                        <a:gs pos="50000">
                          <a:srgbClr val="8DC6F1"/>
                        </a:gs>
                        <a:gs pos="100000">
                          <a:srgbClr val="78BFF0"/>
                        </a:gs>
                      </a:gsLst>
                      <a:lin ang="5400000" scaled="0"/>
                    </a:gradFill>
                  </a:tcPr>
                </a:tc>
                <a:extLst>
                  <a:ext uri="{0D108BD9-81ED-4DB2-BD59-A6C34878D82A}">
                    <a16:rowId xmlns:a16="http://schemas.microsoft.com/office/drawing/2014/main" val="10003"/>
                  </a:ext>
                </a:extLst>
              </a:tr>
              <a:tr h="367788">
                <a:tc>
                  <a:txBody>
                    <a:bodyPr/>
                    <a:lstStyle/>
                    <a:p>
                      <a:pPr defTabSz="457200">
                        <a:defRPr sz="1800">
                          <a:solidFill>
                            <a:srgbClr val="000000"/>
                          </a:solidFill>
                        </a:defRPr>
                      </a:pPr>
                      <a:r>
                        <a:rPr>
                          <a:latin typeface="Times New Roman"/>
                          <a:ea typeface="Times New Roman"/>
                          <a:cs typeface="Times New Roman"/>
                          <a:sym typeface="Times New Roman"/>
                        </a:rPr>
                        <a:t>Moderate Demented</a:t>
                      </a:r>
                    </a:p>
                  </a:txBody>
                  <a:tcPr marL="45720" marR="4572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defTabSz="457200">
                        <a:defRPr sz="1800">
                          <a:solidFill>
                            <a:srgbClr val="000000"/>
                          </a:solidFill>
                        </a:defRPr>
                      </a:pPr>
                      <a:r>
                        <a:rPr>
                          <a:latin typeface="Times New Roman"/>
                          <a:ea typeface="Times New Roman"/>
                          <a:cs typeface="Times New Roman"/>
                          <a:sym typeface="Times New Roman"/>
                        </a:rPr>
                        <a:t>6464</a:t>
                      </a:r>
                    </a:p>
                  </a:txBody>
                  <a:tcPr marL="45720" marR="4572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Title 1"/>
          <p:cNvSpPr txBox="1">
            <a:spLocks noGrp="1"/>
          </p:cNvSpPr>
          <p:nvPr>
            <p:ph type="title"/>
          </p:nvPr>
        </p:nvSpPr>
        <p:spPr>
          <a:xfrm>
            <a:off x="762526" y="439981"/>
            <a:ext cx="9826450" cy="1190629"/>
          </a:xfrm>
          <a:prstGeom prst="rect">
            <a:avLst/>
          </a:prstGeom>
        </p:spPr>
        <p:txBody>
          <a:bodyPr/>
          <a:lstStyle/>
          <a:p>
            <a:r>
              <a:t>Sample Images</a:t>
            </a:r>
          </a:p>
        </p:txBody>
      </p:sp>
      <p:sp>
        <p:nvSpPr>
          <p:cNvPr id="204" name="Text Placeholder 2"/>
          <p:cNvSpPr txBox="1">
            <a:spLocks noGrp="1"/>
          </p:cNvSpPr>
          <p:nvPr>
            <p:ph type="body" idx="1"/>
          </p:nvPr>
        </p:nvSpPr>
        <p:spPr>
          <a:xfrm>
            <a:off x="407193" y="1630609"/>
            <a:ext cx="11471618" cy="4828302"/>
          </a:xfrm>
          <a:prstGeom prst="rect">
            <a:avLst/>
          </a:prstGeom>
        </p:spPr>
        <p:txBody>
          <a:bodyPr/>
          <a:lstStyle/>
          <a:p>
            <a:pPr>
              <a:defRPr b="1">
                <a:solidFill>
                  <a:srgbClr val="FFFFFF"/>
                </a:solidFill>
              </a:defRPr>
            </a:pPr>
            <a:endParaRPr/>
          </a:p>
        </p:txBody>
      </p:sp>
      <p:pic>
        <p:nvPicPr>
          <p:cNvPr id="205" name="Picture 13" descr="Picture 13"/>
          <p:cNvPicPr>
            <a:picLocks noChangeAspect="1"/>
          </p:cNvPicPr>
          <p:nvPr/>
        </p:nvPicPr>
        <p:blipFill>
          <a:blip r:embed="rId2"/>
          <a:stretch>
            <a:fillRect/>
          </a:stretch>
        </p:blipFill>
        <p:spPr>
          <a:xfrm>
            <a:off x="3437783" y="2894040"/>
            <a:ext cx="2149027" cy="2415751"/>
          </a:xfrm>
          <a:prstGeom prst="rect">
            <a:avLst/>
          </a:prstGeom>
          <a:ln w="12700">
            <a:miter lim="400000"/>
          </a:ln>
        </p:spPr>
      </p:pic>
      <p:pic>
        <p:nvPicPr>
          <p:cNvPr id="206" name="Picture 15" descr="Picture 15"/>
          <p:cNvPicPr>
            <a:picLocks noChangeAspect="1"/>
          </p:cNvPicPr>
          <p:nvPr/>
        </p:nvPicPr>
        <p:blipFill>
          <a:blip r:embed="rId3"/>
          <a:stretch>
            <a:fillRect/>
          </a:stretch>
        </p:blipFill>
        <p:spPr>
          <a:xfrm>
            <a:off x="854443" y="2779730"/>
            <a:ext cx="2225233" cy="2530060"/>
          </a:xfrm>
          <a:prstGeom prst="rect">
            <a:avLst/>
          </a:prstGeom>
          <a:ln w="12700">
            <a:miter lim="400000"/>
          </a:ln>
        </p:spPr>
      </p:pic>
      <p:pic>
        <p:nvPicPr>
          <p:cNvPr id="207" name="Picture 17" descr="Picture 17"/>
          <p:cNvPicPr>
            <a:picLocks noChangeAspect="1"/>
          </p:cNvPicPr>
          <p:nvPr/>
        </p:nvPicPr>
        <p:blipFill>
          <a:blip r:embed="rId4"/>
          <a:stretch>
            <a:fillRect/>
          </a:stretch>
        </p:blipFill>
        <p:spPr>
          <a:xfrm>
            <a:off x="8182885" y="2894040"/>
            <a:ext cx="2225233" cy="2423371"/>
          </a:xfrm>
          <a:prstGeom prst="rect">
            <a:avLst/>
          </a:prstGeom>
          <a:ln w="12700">
            <a:miter lim="400000"/>
          </a:ln>
        </p:spPr>
      </p:pic>
      <p:pic>
        <p:nvPicPr>
          <p:cNvPr id="208" name="Picture 19" descr="Picture 19"/>
          <p:cNvPicPr>
            <a:picLocks noChangeAspect="1"/>
          </p:cNvPicPr>
          <p:nvPr/>
        </p:nvPicPr>
        <p:blipFill>
          <a:blip r:embed="rId5"/>
          <a:stretch>
            <a:fillRect/>
          </a:stretch>
        </p:blipFill>
        <p:spPr>
          <a:xfrm>
            <a:off x="5675750" y="2779730"/>
            <a:ext cx="2286199" cy="2415750"/>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186"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187"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188" name="Title 1"/>
          <p:cNvSpPr txBox="1">
            <a:spLocks noGrp="1"/>
          </p:cNvSpPr>
          <p:nvPr>
            <p:ph type="title"/>
          </p:nvPr>
        </p:nvSpPr>
        <p:spPr>
          <a:xfrm>
            <a:off x="207896" y="90580"/>
            <a:ext cx="11984105" cy="658593"/>
          </a:xfrm>
          <a:prstGeom prst="rect">
            <a:avLst/>
          </a:prstGeom>
        </p:spPr>
        <p:txBody>
          <a:bodyPr/>
          <a:lstStyle/>
          <a:p>
            <a:pPr>
              <a:defRPr sz="4000">
                <a:solidFill>
                  <a:srgbClr val="FFFFFF"/>
                </a:solidFill>
                <a:latin typeface="Times New Roman"/>
                <a:ea typeface="Times New Roman"/>
                <a:cs typeface="Times New Roman"/>
                <a:sym typeface="Times New Roman"/>
              </a:defRPr>
            </a:pPr>
            <a:r>
              <a:t>PROPOSED FLOW DIAGRAM</a:t>
            </a:r>
          </a:p>
        </p:txBody>
      </p:sp>
      <p:sp>
        <p:nvSpPr>
          <p:cNvPr id="189" name="Slide Number Placeholder 4"/>
          <p:cNvSpPr txBox="1">
            <a:spLocks noGrp="1"/>
          </p:cNvSpPr>
          <p:nvPr>
            <p:ph type="sldNum" sz="quarter" idx="4294967295"/>
          </p:nvPr>
        </p:nvSpPr>
        <p:spPr>
          <a:xfrm>
            <a:off x="11368085" y="6505702"/>
            <a:ext cx="187332"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solidFill>
                  <a:srgbClr val="FFFFFF"/>
                </a:solidFill>
              </a:defRPr>
            </a:lvl1pPr>
          </a:lstStyle>
          <a:p>
            <a:fld id="{86CB4B4D-7CA3-9044-876B-883B54F8677D}" type="slidenum">
              <a:rPr/>
              <a:t>8</a:t>
            </a:fld>
            <a:endParaRPr/>
          </a:p>
        </p:txBody>
      </p:sp>
      <p:sp>
        <p:nvSpPr>
          <p:cNvPr id="190"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pic>
        <p:nvPicPr>
          <p:cNvPr id="191" name="Picture 2" descr="Picture 2"/>
          <p:cNvPicPr>
            <a:picLocks noChangeAspect="1"/>
          </p:cNvPicPr>
          <p:nvPr/>
        </p:nvPicPr>
        <p:blipFill>
          <a:blip r:embed="rId2"/>
          <a:stretch>
            <a:fillRect/>
          </a:stretch>
        </p:blipFill>
        <p:spPr>
          <a:xfrm>
            <a:off x="910398" y="882961"/>
            <a:ext cx="10579213" cy="5614523"/>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
        <p:nvSpPr>
          <p:cNvPr id="220"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221" name="Optimized for efficiency, offering rapid inference and satisfactory accuracy, ideal for real-time diagnostic…"/>
          <p:cNvSpPr txBox="1">
            <a:spLocks noGrp="1"/>
          </p:cNvSpPr>
          <p:nvPr>
            <p:ph type="body" idx="1"/>
          </p:nvPr>
        </p:nvSpPr>
        <p:spPr>
          <a:xfrm>
            <a:off x="407193" y="1125405"/>
            <a:ext cx="11471618" cy="5290860"/>
          </a:xfrm>
          <a:prstGeom prst="rect">
            <a:avLst/>
          </a:prstGeom>
        </p:spPr>
        <p:txBody>
          <a:bodyPr/>
          <a:lstStyle/>
          <a:p>
            <a:pPr marL="0" indent="0" algn="just">
              <a:spcBef>
                <a:spcPts val="300"/>
              </a:spcBef>
              <a:buSzTx/>
              <a:buFontTx/>
              <a:buNone/>
              <a:defRPr sz="2100">
                <a:solidFill>
                  <a:schemeClr val="accent6"/>
                </a:solidFill>
                <a:latin typeface="Times New Roman"/>
                <a:ea typeface="Times New Roman"/>
                <a:cs typeface="Times New Roman"/>
                <a:sym typeface="Times New Roman"/>
              </a:defRPr>
            </a:pPr>
            <a:r>
              <a:rPr dirty="0"/>
              <a:t>MobileNetV2 uses depthwise separable convolutions to perform efficient and lightweight feature extraction greatly reducing computation while maintaining strong accuracy.</a:t>
            </a:r>
          </a:p>
          <a:p>
            <a:pPr marL="0" indent="0" algn="just">
              <a:spcBef>
                <a:spcPts val="300"/>
              </a:spcBef>
              <a:buSzTx/>
              <a:buFontTx/>
              <a:buNone/>
              <a:defRPr sz="2100">
                <a:solidFill>
                  <a:schemeClr val="accent6"/>
                </a:solidFill>
                <a:latin typeface="Times New Roman"/>
                <a:ea typeface="Times New Roman"/>
                <a:cs typeface="Times New Roman"/>
                <a:sym typeface="Times New Roman"/>
              </a:defRPr>
            </a:pPr>
            <a:r>
              <a:rPr dirty="0"/>
              <a:t>Its architecture captures essential local patterns in MRI scans making it effective within the ensemble for Alzheimer’s classification.</a:t>
            </a:r>
          </a:p>
          <a:p>
            <a:pPr marL="171450" indent="-171450">
              <a:spcBef>
                <a:spcPts val="300"/>
              </a:spcBef>
              <a:buClr>
                <a:srgbClr val="00249C"/>
              </a:buClr>
              <a:buFontTx/>
              <a:defRPr sz="2100" b="1">
                <a:solidFill>
                  <a:schemeClr val="accent6"/>
                </a:solidFill>
                <a:latin typeface="Times New Roman"/>
                <a:ea typeface="Times New Roman"/>
                <a:cs typeface="Times New Roman"/>
                <a:sym typeface="Times New Roman"/>
              </a:defRPr>
            </a:pPr>
            <a:endParaRPr dirty="0"/>
          </a:p>
          <a:p>
            <a:pPr marL="171450" indent="-171450">
              <a:lnSpc>
                <a:spcPct val="150000"/>
              </a:lnSpc>
              <a:spcBef>
                <a:spcPts val="300"/>
              </a:spcBef>
              <a:buClr>
                <a:srgbClr val="00249C"/>
              </a:buClr>
              <a:buFontTx/>
              <a:defRPr sz="2100" b="1">
                <a:solidFill>
                  <a:schemeClr val="accent6"/>
                </a:solidFill>
                <a:latin typeface="Times New Roman"/>
                <a:ea typeface="Times New Roman"/>
                <a:cs typeface="Times New Roman"/>
                <a:sym typeface="Times New Roman"/>
              </a:defRPr>
            </a:pPr>
            <a:r>
              <a:rPr dirty="0"/>
              <a:t>Base Model: MobileNetV2 pre-trained on ImageNet dataset</a:t>
            </a:r>
          </a:p>
          <a:p>
            <a:pPr marL="171450" indent="-171450">
              <a:lnSpc>
                <a:spcPct val="150000"/>
              </a:lnSpc>
              <a:spcBef>
                <a:spcPts val="300"/>
              </a:spcBef>
              <a:buClr>
                <a:srgbClr val="00249C"/>
              </a:buClr>
              <a:buFontTx/>
              <a:defRPr sz="2100">
                <a:solidFill>
                  <a:schemeClr val="accent6"/>
                </a:solidFill>
                <a:latin typeface="Times New Roman"/>
                <a:ea typeface="Times New Roman"/>
                <a:cs typeface="Times New Roman"/>
                <a:sym typeface="Times New Roman"/>
              </a:defRPr>
            </a:pPr>
            <a:r>
              <a:rPr lang="en-IN" b="1" dirty="0"/>
              <a:t>I</a:t>
            </a:r>
            <a:r>
              <a:rPr b="1" dirty="0" err="1"/>
              <a:t>nput</a:t>
            </a:r>
            <a:r>
              <a:rPr b="1" dirty="0"/>
              <a:t> shape</a:t>
            </a:r>
            <a:r>
              <a:rPr lang="en-IN" b="1" dirty="0"/>
              <a:t> :</a:t>
            </a:r>
            <a:r>
              <a:rPr b="1" dirty="0"/>
              <a:t> (224, 224, 3)</a:t>
            </a:r>
          </a:p>
          <a:p>
            <a:pPr marL="171450" indent="-171450">
              <a:lnSpc>
                <a:spcPct val="150000"/>
              </a:lnSpc>
              <a:spcBef>
                <a:spcPts val="300"/>
              </a:spcBef>
              <a:buClr>
                <a:srgbClr val="00249C"/>
              </a:buClr>
              <a:buFontTx/>
              <a:defRPr sz="2100" b="1">
                <a:solidFill>
                  <a:schemeClr val="accent6"/>
                </a:solidFill>
                <a:latin typeface="Times New Roman"/>
                <a:ea typeface="Times New Roman"/>
                <a:cs typeface="Times New Roman"/>
                <a:sym typeface="Times New Roman"/>
              </a:defRPr>
            </a:pPr>
            <a:r>
              <a:rPr dirty="0"/>
              <a:t>Output Layer: Dense (4 units, </a:t>
            </a:r>
            <a:r>
              <a:rPr dirty="0" err="1"/>
              <a:t>Softmax</a:t>
            </a:r>
            <a:r>
              <a:rPr dirty="0"/>
              <a:t>) for classification.</a:t>
            </a:r>
          </a:p>
          <a:p>
            <a:pPr marL="171450" indent="-171450">
              <a:lnSpc>
                <a:spcPct val="150000"/>
              </a:lnSpc>
              <a:spcBef>
                <a:spcPts val="300"/>
              </a:spcBef>
              <a:buClr>
                <a:srgbClr val="00249C"/>
              </a:buClr>
              <a:buFontTx/>
              <a:defRPr sz="2100" b="1">
                <a:solidFill>
                  <a:schemeClr val="accent6"/>
                </a:solidFill>
                <a:latin typeface="Times New Roman"/>
                <a:ea typeface="Times New Roman"/>
                <a:cs typeface="Times New Roman"/>
                <a:sym typeface="Times New Roman"/>
              </a:defRPr>
            </a:pPr>
            <a:r>
              <a:rPr dirty="0"/>
              <a:t>Optimizer: Adam (Learning rate: 0.0001).</a:t>
            </a:r>
          </a:p>
          <a:p>
            <a:pPr marL="171450" indent="-171450">
              <a:lnSpc>
                <a:spcPct val="150000"/>
              </a:lnSpc>
              <a:spcBef>
                <a:spcPts val="300"/>
              </a:spcBef>
              <a:buClr>
                <a:srgbClr val="00249C"/>
              </a:buClr>
              <a:buFontTx/>
              <a:defRPr sz="2100" b="1">
                <a:solidFill>
                  <a:schemeClr val="accent6"/>
                </a:solidFill>
                <a:latin typeface="Times New Roman"/>
                <a:ea typeface="Times New Roman"/>
                <a:cs typeface="Times New Roman"/>
                <a:sym typeface="Times New Roman"/>
              </a:defRPr>
            </a:pPr>
            <a:r>
              <a:rPr dirty="0"/>
              <a:t>Loss Function: Categorical </a:t>
            </a:r>
            <a:r>
              <a:rPr dirty="0" err="1"/>
              <a:t>Crossentropy</a:t>
            </a:r>
            <a:r>
              <a:rPr dirty="0"/>
              <a:t>.</a:t>
            </a:r>
          </a:p>
        </p:txBody>
      </p:sp>
      <p:sp>
        <p:nvSpPr>
          <p:cNvPr id="222"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223"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224"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225"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14</a:t>
            </a:r>
          </a:p>
        </p:txBody>
      </p:sp>
      <p:sp>
        <p:nvSpPr>
          <p:cNvPr id="226" name="MobileNetV2"/>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MobileNetV2</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
        <p:nvSpPr>
          <p:cNvPr id="229"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230" name="Utilizes skip connections, enabling effective training of deep networks without the vanishing gradient problem.…"/>
          <p:cNvSpPr txBox="1">
            <a:spLocks noGrp="1"/>
          </p:cNvSpPr>
          <p:nvPr>
            <p:ph type="body" idx="1"/>
          </p:nvPr>
        </p:nvSpPr>
        <p:spPr>
          <a:xfrm>
            <a:off x="407193" y="1125405"/>
            <a:ext cx="11471618" cy="5290860"/>
          </a:xfrm>
          <a:prstGeom prst="rect">
            <a:avLst/>
          </a:prstGeom>
        </p:spPr>
        <p:txBody>
          <a:bodyPr/>
          <a:lstStyle/>
          <a:p>
            <a:pPr marL="0" indent="0">
              <a:spcBef>
                <a:spcPts val="300"/>
              </a:spcBef>
              <a:buSzTx/>
              <a:buNone/>
              <a:defRPr sz="2100">
                <a:solidFill>
                  <a:schemeClr val="accent6"/>
                </a:solidFill>
                <a:latin typeface="Times New Roman"/>
                <a:ea typeface="Times New Roman"/>
                <a:cs typeface="Times New Roman"/>
                <a:sym typeface="Times New Roman"/>
              </a:defRPr>
            </a:pPr>
            <a:r>
              <a:rPr dirty="0"/>
              <a:t>Utilizes skip connections enabling effective training of deep networks without the vanishing gradient problem.</a:t>
            </a:r>
          </a:p>
          <a:p>
            <a:pPr marL="0" indent="0">
              <a:spcBef>
                <a:spcPts val="300"/>
              </a:spcBef>
              <a:buSzTx/>
              <a:buNone/>
              <a:defRPr sz="2100">
                <a:solidFill>
                  <a:schemeClr val="accent6"/>
                </a:solidFill>
                <a:latin typeface="Times New Roman"/>
                <a:ea typeface="Times New Roman"/>
                <a:cs typeface="Times New Roman"/>
                <a:sym typeface="Times New Roman"/>
              </a:defRPr>
            </a:pPr>
            <a:endParaRPr dirty="0"/>
          </a:p>
          <a:p>
            <a:pPr marL="210551" indent="-210551">
              <a:spcBef>
                <a:spcPts val="300"/>
              </a:spcBef>
              <a:buFontTx/>
              <a:defRPr sz="2100" b="1">
                <a:solidFill>
                  <a:schemeClr val="accent6"/>
                </a:solidFill>
                <a:latin typeface="Times New Roman"/>
                <a:ea typeface="Times New Roman"/>
                <a:cs typeface="Times New Roman"/>
                <a:sym typeface="Times New Roman"/>
              </a:defRPr>
            </a:pPr>
            <a:r>
              <a:rPr dirty="0"/>
              <a:t>Base Model: </a:t>
            </a:r>
            <a:r>
              <a:rPr b="0" dirty="0"/>
              <a:t>ResNet50 pre-trained on ImageNet,</a:t>
            </a:r>
          </a:p>
          <a:p>
            <a:pPr marL="210551" indent="-210551">
              <a:spcBef>
                <a:spcPts val="300"/>
              </a:spcBef>
              <a:buFontTx/>
              <a:defRPr sz="2100">
                <a:solidFill>
                  <a:schemeClr val="accent6"/>
                </a:solidFill>
                <a:latin typeface="Times New Roman"/>
                <a:ea typeface="Times New Roman"/>
                <a:cs typeface="Times New Roman"/>
                <a:sym typeface="Times New Roman"/>
              </a:defRPr>
            </a:pPr>
            <a:r>
              <a:rPr dirty="0"/>
              <a:t> input shape</a:t>
            </a:r>
            <a:r>
              <a:rPr b="1" dirty="0"/>
              <a:t>    (224, 224, 3).</a:t>
            </a:r>
          </a:p>
          <a:p>
            <a:pPr marL="210551" indent="-210551">
              <a:spcBef>
                <a:spcPts val="300"/>
              </a:spcBef>
              <a:buFontTx/>
              <a:defRPr sz="2100" b="1">
                <a:solidFill>
                  <a:schemeClr val="accent6"/>
                </a:solidFill>
                <a:latin typeface="Times New Roman"/>
                <a:ea typeface="Times New Roman"/>
                <a:cs typeface="Times New Roman"/>
                <a:sym typeface="Times New Roman"/>
              </a:defRPr>
            </a:pPr>
            <a:r>
              <a:rPr dirty="0"/>
              <a:t>Custom Layers:</a:t>
            </a:r>
          </a:p>
          <a:p>
            <a:pPr marL="591552" lvl="1" indent="-210551">
              <a:spcBef>
                <a:spcPts val="300"/>
              </a:spcBef>
              <a:buFontTx/>
              <a:defRPr sz="2100">
                <a:solidFill>
                  <a:schemeClr val="accent6"/>
                </a:solidFill>
                <a:latin typeface="Times New Roman"/>
                <a:ea typeface="Times New Roman"/>
                <a:cs typeface="Times New Roman"/>
                <a:sym typeface="Times New Roman"/>
              </a:defRPr>
            </a:pPr>
            <a:r>
              <a:rPr dirty="0"/>
              <a:t>GlobalAveragePooling2D to reduce spatial dimensions.</a:t>
            </a:r>
          </a:p>
          <a:p>
            <a:pPr marL="591552" lvl="1" indent="-210551">
              <a:spcBef>
                <a:spcPts val="300"/>
              </a:spcBef>
              <a:buFontTx/>
              <a:defRPr sz="2100">
                <a:solidFill>
                  <a:schemeClr val="accent6"/>
                </a:solidFill>
                <a:latin typeface="Times New Roman"/>
                <a:ea typeface="Times New Roman"/>
                <a:cs typeface="Times New Roman"/>
                <a:sym typeface="Times New Roman"/>
              </a:defRPr>
            </a:pPr>
            <a:r>
              <a:rPr dirty="0"/>
              <a:t>Dense (512 units, ReLU) with L2 regularization (0.01).</a:t>
            </a:r>
          </a:p>
          <a:p>
            <a:pPr marL="591552" lvl="1" indent="-210551">
              <a:spcBef>
                <a:spcPts val="300"/>
              </a:spcBef>
              <a:buFontTx/>
              <a:defRPr sz="2100">
                <a:solidFill>
                  <a:schemeClr val="accent6"/>
                </a:solidFill>
                <a:latin typeface="Times New Roman"/>
                <a:ea typeface="Times New Roman"/>
                <a:cs typeface="Times New Roman"/>
                <a:sym typeface="Times New Roman"/>
              </a:defRPr>
            </a:pPr>
            <a:r>
              <a:rPr dirty="0" err="1"/>
              <a:t>BatchNormalization</a:t>
            </a:r>
            <a:r>
              <a:rPr dirty="0"/>
              <a:t> for stable training.</a:t>
            </a:r>
          </a:p>
          <a:p>
            <a:pPr marL="591552" lvl="1" indent="-210551">
              <a:spcBef>
                <a:spcPts val="300"/>
              </a:spcBef>
              <a:buFontTx/>
              <a:defRPr sz="2100">
                <a:solidFill>
                  <a:schemeClr val="accent6"/>
                </a:solidFill>
                <a:latin typeface="Times New Roman"/>
                <a:ea typeface="Times New Roman"/>
                <a:cs typeface="Times New Roman"/>
                <a:sym typeface="Times New Roman"/>
              </a:defRPr>
            </a:pPr>
            <a:r>
              <a:rPr dirty="0"/>
              <a:t>Dropout (30%) for regularization.</a:t>
            </a:r>
          </a:p>
          <a:p>
            <a:pPr marL="210551" indent="-210551">
              <a:spcBef>
                <a:spcPts val="300"/>
              </a:spcBef>
              <a:buFontTx/>
              <a:defRPr sz="2100" b="1">
                <a:solidFill>
                  <a:schemeClr val="accent6"/>
                </a:solidFill>
                <a:latin typeface="Times New Roman"/>
                <a:ea typeface="Times New Roman"/>
                <a:cs typeface="Times New Roman"/>
                <a:sym typeface="Times New Roman"/>
              </a:defRPr>
            </a:pPr>
            <a:r>
              <a:rPr dirty="0"/>
              <a:t>Output Layer:</a:t>
            </a:r>
            <a:r>
              <a:rPr b="0" dirty="0"/>
              <a:t> Dense (4 units, </a:t>
            </a:r>
            <a:r>
              <a:rPr b="0" dirty="0" err="1"/>
              <a:t>Softmax</a:t>
            </a:r>
            <a:r>
              <a:rPr b="0" dirty="0"/>
              <a:t>) for classification.</a:t>
            </a:r>
          </a:p>
          <a:p>
            <a:pPr marL="210551" indent="-210551">
              <a:spcBef>
                <a:spcPts val="300"/>
              </a:spcBef>
              <a:buFontTx/>
              <a:defRPr sz="2100" b="1">
                <a:solidFill>
                  <a:schemeClr val="accent6"/>
                </a:solidFill>
                <a:latin typeface="Times New Roman"/>
                <a:ea typeface="Times New Roman"/>
                <a:cs typeface="Times New Roman"/>
                <a:sym typeface="Times New Roman"/>
              </a:defRPr>
            </a:pPr>
            <a:r>
              <a:rPr dirty="0"/>
              <a:t>Optimizer: </a:t>
            </a:r>
            <a:r>
              <a:rPr b="0" dirty="0"/>
              <a:t>Adam (Learning rate: 0.0001).</a:t>
            </a:r>
          </a:p>
          <a:p>
            <a:pPr marL="210551" indent="-210551">
              <a:spcBef>
                <a:spcPts val="300"/>
              </a:spcBef>
              <a:buFontTx/>
              <a:defRPr sz="2100" b="1">
                <a:solidFill>
                  <a:schemeClr val="accent6"/>
                </a:solidFill>
                <a:latin typeface="Times New Roman"/>
                <a:ea typeface="Times New Roman"/>
                <a:cs typeface="Times New Roman"/>
                <a:sym typeface="Times New Roman"/>
              </a:defRPr>
            </a:pPr>
            <a:r>
              <a:rPr dirty="0"/>
              <a:t>Loss Function: </a:t>
            </a:r>
            <a:r>
              <a:rPr b="0" dirty="0"/>
              <a:t>Categorical </a:t>
            </a:r>
            <a:r>
              <a:rPr b="0" dirty="0" err="1"/>
              <a:t>Crossentropy</a:t>
            </a:r>
            <a:r>
              <a:rPr b="0" dirty="0"/>
              <a:t>.</a:t>
            </a:r>
          </a:p>
        </p:txBody>
      </p:sp>
      <p:sp>
        <p:nvSpPr>
          <p:cNvPr id="231"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232"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233"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234"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18</a:t>
            </a:r>
          </a:p>
        </p:txBody>
      </p:sp>
      <p:sp>
        <p:nvSpPr>
          <p:cNvPr id="235" name="ResNet50"/>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ResNet50</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a:p>
        </p:txBody>
      </p:sp>
      <p:sp>
        <p:nvSpPr>
          <p:cNvPr id="238"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239" name="This model is smart about how it processes images. Instead of using big calculations, it breaks them into smaller, more efficient ones. This helps capture different details in the brain scans without using too much computing power, and good balance betwe"/>
          <p:cNvSpPr txBox="1">
            <a:spLocks noGrp="1"/>
          </p:cNvSpPr>
          <p:nvPr>
            <p:ph type="body" idx="1"/>
          </p:nvPr>
        </p:nvSpPr>
        <p:spPr>
          <a:xfrm>
            <a:off x="84835" y="1011536"/>
            <a:ext cx="9826453" cy="5290858"/>
          </a:xfrm>
          <a:prstGeom prst="rect">
            <a:avLst/>
          </a:prstGeom>
        </p:spPr>
        <p:txBody>
          <a:bodyPr>
            <a:normAutofit/>
          </a:bodyPr>
          <a:lstStyle/>
          <a:p>
            <a:pPr marL="0" indent="0" algn="just">
              <a:lnSpc>
                <a:spcPct val="135000"/>
              </a:lnSpc>
              <a:spcBef>
                <a:spcPts val="0"/>
              </a:spcBef>
              <a:buSzTx/>
              <a:buFontTx/>
              <a:buNone/>
              <a:tabLst>
                <a:tab pos="342900" algn="l"/>
                <a:tab pos="698500" algn="l"/>
                <a:tab pos="1054100" algn="l"/>
                <a:tab pos="1397000" algn="l"/>
                <a:tab pos="1752600" algn="l"/>
                <a:tab pos="2108200" algn="l"/>
                <a:tab pos="2463800" algn="l"/>
                <a:tab pos="2806700" algn="l"/>
                <a:tab pos="3162300" algn="l"/>
                <a:tab pos="3517900" algn="l"/>
                <a:tab pos="3860800" algn="l"/>
                <a:tab pos="4216400" algn="l"/>
              </a:tabLst>
              <a:defRPr sz="1386">
                <a:solidFill>
                  <a:srgbClr val="111111"/>
                </a:solidFill>
                <a:latin typeface="+mn-lt"/>
                <a:ea typeface="+mn-ea"/>
                <a:cs typeface="+mn-cs"/>
                <a:sym typeface="Helvetica"/>
              </a:defRPr>
            </a:pPr>
            <a:r>
              <a:rPr sz="2079" dirty="0">
                <a:solidFill>
                  <a:schemeClr val="accent6"/>
                </a:solidFill>
                <a:latin typeface="Times New Roman"/>
                <a:ea typeface="Times New Roman"/>
                <a:cs typeface="Times New Roman"/>
                <a:sym typeface="Times New Roman"/>
              </a:rPr>
              <a:t>InceptionV3 extracts multi-scale features by processing the MRI image through parallel convolution paths (1×1, 3×3, 5×5), allowing it to detect both fine and large-scale structural patterns.</a:t>
            </a:r>
          </a:p>
          <a:p>
            <a:pPr marL="0" indent="0" algn="just">
              <a:lnSpc>
                <a:spcPct val="135000"/>
              </a:lnSpc>
              <a:spcBef>
                <a:spcPts val="0"/>
              </a:spcBef>
              <a:buSzTx/>
              <a:buFontTx/>
              <a:buNone/>
              <a:tabLst>
                <a:tab pos="342900" algn="l"/>
                <a:tab pos="698500" algn="l"/>
                <a:tab pos="1054100" algn="l"/>
                <a:tab pos="1397000" algn="l"/>
                <a:tab pos="1752600" algn="l"/>
                <a:tab pos="2108200" algn="l"/>
                <a:tab pos="2463800" algn="l"/>
                <a:tab pos="2806700" algn="l"/>
                <a:tab pos="3162300" algn="l"/>
                <a:tab pos="3517900" algn="l"/>
                <a:tab pos="3860800" algn="l"/>
                <a:tab pos="4216400" algn="l"/>
              </a:tabLst>
              <a:defRPr sz="2079">
                <a:solidFill>
                  <a:schemeClr val="accent6"/>
                </a:solidFill>
                <a:latin typeface="Times New Roman"/>
                <a:ea typeface="Times New Roman"/>
                <a:cs typeface="Times New Roman"/>
                <a:sym typeface="Times New Roman"/>
              </a:defRPr>
            </a:pPr>
            <a:r>
              <a:rPr dirty="0"/>
              <a:t>Its multi-branch architecture helps capture diverse Alzheimer’s biomarkers such as hippocampal shrinkage, cortex thinning, and ventricle enlargement.</a:t>
            </a:r>
          </a:p>
          <a:p>
            <a:pPr marL="208445" indent="-208445" defTabSz="905255">
              <a:spcBef>
                <a:spcPts val="200"/>
              </a:spcBef>
              <a:buFontTx/>
              <a:defRPr sz="2079" b="1">
                <a:solidFill>
                  <a:schemeClr val="accent6"/>
                </a:solidFill>
                <a:latin typeface="Times New Roman"/>
                <a:ea typeface="Times New Roman"/>
                <a:cs typeface="Times New Roman"/>
                <a:sym typeface="Times New Roman"/>
              </a:defRPr>
            </a:pPr>
            <a:r>
              <a:rPr dirty="0"/>
              <a:t>Base Model:</a:t>
            </a:r>
            <a:r>
              <a:rPr b="0" dirty="0"/>
              <a:t> InceptionV3 pre-trained on ImageNet</a:t>
            </a:r>
          </a:p>
          <a:p>
            <a:pPr marL="208445" indent="-208445" defTabSz="905255">
              <a:spcBef>
                <a:spcPts val="200"/>
              </a:spcBef>
              <a:buFontTx/>
              <a:defRPr sz="2079">
                <a:solidFill>
                  <a:schemeClr val="accent6"/>
                </a:solidFill>
                <a:latin typeface="Times New Roman"/>
                <a:ea typeface="Times New Roman"/>
                <a:cs typeface="Times New Roman"/>
                <a:sym typeface="Times New Roman"/>
              </a:defRPr>
            </a:pPr>
            <a:r>
              <a:rPr lang="en-IN" b="1" dirty="0"/>
              <a:t>I</a:t>
            </a:r>
            <a:r>
              <a:rPr b="1" dirty="0" err="1"/>
              <a:t>nput</a:t>
            </a:r>
            <a:r>
              <a:rPr b="1" dirty="0"/>
              <a:t> shape </a:t>
            </a:r>
            <a:r>
              <a:rPr dirty="0"/>
              <a:t>(224, 224, 3)</a:t>
            </a:r>
          </a:p>
          <a:p>
            <a:pPr marL="208445" indent="-208445" defTabSz="905255">
              <a:spcBef>
                <a:spcPts val="200"/>
              </a:spcBef>
              <a:buFontTx/>
              <a:defRPr sz="2079" b="1">
                <a:solidFill>
                  <a:schemeClr val="accent6"/>
                </a:solidFill>
                <a:latin typeface="Times New Roman"/>
                <a:ea typeface="Times New Roman"/>
                <a:cs typeface="Times New Roman"/>
                <a:sym typeface="Times New Roman"/>
              </a:defRPr>
            </a:pPr>
            <a:r>
              <a:rPr dirty="0"/>
              <a:t>Output Layer: </a:t>
            </a:r>
            <a:r>
              <a:rPr b="0" dirty="0"/>
              <a:t>Dense (4 units, </a:t>
            </a:r>
            <a:r>
              <a:rPr b="0" dirty="0" err="1"/>
              <a:t>Softmax</a:t>
            </a:r>
            <a:r>
              <a:rPr b="0" dirty="0"/>
              <a:t>) for classification.</a:t>
            </a:r>
          </a:p>
          <a:p>
            <a:pPr marL="208445" indent="-208445" defTabSz="905255">
              <a:spcBef>
                <a:spcPts val="200"/>
              </a:spcBef>
              <a:buFontTx/>
              <a:defRPr sz="2079" b="1">
                <a:solidFill>
                  <a:schemeClr val="accent6"/>
                </a:solidFill>
                <a:latin typeface="Times New Roman"/>
                <a:ea typeface="Times New Roman"/>
                <a:cs typeface="Times New Roman"/>
                <a:sym typeface="Times New Roman"/>
              </a:defRPr>
            </a:pPr>
            <a:r>
              <a:rPr dirty="0"/>
              <a:t>Optimizer:</a:t>
            </a:r>
            <a:r>
              <a:rPr b="0" dirty="0"/>
              <a:t> Adam (Learning rate: 0.0001).</a:t>
            </a:r>
          </a:p>
          <a:p>
            <a:pPr marL="208445" indent="-208445" defTabSz="905255">
              <a:spcBef>
                <a:spcPts val="200"/>
              </a:spcBef>
              <a:buFontTx/>
              <a:defRPr sz="2079" b="1">
                <a:solidFill>
                  <a:schemeClr val="accent6"/>
                </a:solidFill>
                <a:latin typeface="Times New Roman"/>
                <a:ea typeface="Times New Roman"/>
                <a:cs typeface="Times New Roman"/>
                <a:sym typeface="Times New Roman"/>
              </a:defRPr>
            </a:pPr>
            <a:r>
              <a:rPr dirty="0"/>
              <a:t>Loss Function: </a:t>
            </a:r>
            <a:r>
              <a:rPr b="0" dirty="0"/>
              <a:t>Categorical </a:t>
            </a:r>
            <a:r>
              <a:rPr b="0" dirty="0" err="1"/>
              <a:t>Crossentropy</a:t>
            </a:r>
            <a:r>
              <a:rPr b="0" dirty="0"/>
              <a:t>.</a:t>
            </a:r>
          </a:p>
        </p:txBody>
      </p:sp>
      <p:sp>
        <p:nvSpPr>
          <p:cNvPr id="240"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241"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242"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243"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22</a:t>
            </a:r>
          </a:p>
        </p:txBody>
      </p:sp>
      <p:sp>
        <p:nvSpPr>
          <p:cNvPr id="244" name="InceptionV3"/>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InceptionV3</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
        <p:nvSpPr>
          <p:cNvPr id="247"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248"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249"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250"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251"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16</a:t>
            </a:r>
          </a:p>
        </p:txBody>
      </p:sp>
      <p:sp>
        <p:nvSpPr>
          <p:cNvPr id="252" name="AUGMENTED ATTENTION"/>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AUGMENTED ATTENTION </a:t>
            </a:r>
          </a:p>
        </p:txBody>
      </p:sp>
      <p:sp>
        <p:nvSpPr>
          <p:cNvPr id="253" name="Input: Pre-processed MRI scans (224x224x3).…"/>
          <p:cNvSpPr txBox="1">
            <a:spLocks noGrp="1"/>
          </p:cNvSpPr>
          <p:nvPr>
            <p:ph type="body" idx="1"/>
          </p:nvPr>
        </p:nvSpPr>
        <p:spPr>
          <a:xfrm>
            <a:off x="777995" y="1083254"/>
            <a:ext cx="10045387" cy="4349162"/>
          </a:xfrm>
          <a:prstGeom prst="rect">
            <a:avLst/>
          </a:prstGeom>
        </p:spPr>
        <p:txBody>
          <a:bodyPr anchor="ctr"/>
          <a:lstStyle/>
          <a:p>
            <a:pPr marL="210551" indent="-210551">
              <a:spcBef>
                <a:spcPts val="300"/>
              </a:spcBef>
              <a:buFontTx/>
              <a:defRPr sz="2100" b="1">
                <a:solidFill>
                  <a:schemeClr val="accent6"/>
                </a:solidFill>
                <a:latin typeface="Times New Roman"/>
                <a:ea typeface="Times New Roman"/>
                <a:cs typeface="Times New Roman"/>
                <a:sym typeface="Times New Roman"/>
              </a:defRPr>
            </a:pPr>
            <a:r>
              <a:t>Input:</a:t>
            </a:r>
            <a:r>
              <a:rPr b="0"/>
              <a:t> Pre-processed MRI scans (224x224x3).</a:t>
            </a:r>
          </a:p>
          <a:p>
            <a:pPr marL="1177288" lvl="2" indent="-171450">
              <a:lnSpc>
                <a:spcPct val="150000"/>
              </a:lnSpc>
              <a:spcBef>
                <a:spcPts val="300"/>
              </a:spcBef>
              <a:buClr>
                <a:srgbClr val="00249C"/>
              </a:buClr>
              <a:buFontTx/>
              <a:defRPr sz="2100">
                <a:solidFill>
                  <a:schemeClr val="accent6"/>
                </a:solidFill>
                <a:latin typeface="Times New Roman"/>
                <a:ea typeface="Times New Roman"/>
                <a:cs typeface="Times New Roman"/>
                <a:sym typeface="Times New Roman"/>
              </a:defRPr>
            </a:pPr>
            <a:r>
              <a:t>Base Extractor: MobileNetV2 /ResNet50/ InceptionV3 / Augmented Attention</a:t>
            </a:r>
          </a:p>
          <a:p>
            <a:pPr marL="210551" indent="-210551">
              <a:spcBef>
                <a:spcPts val="300"/>
              </a:spcBef>
              <a:buFontTx/>
              <a:defRPr sz="2100" b="1">
                <a:solidFill>
                  <a:schemeClr val="accent6"/>
                </a:solidFill>
                <a:latin typeface="Times New Roman"/>
                <a:ea typeface="Times New Roman"/>
                <a:cs typeface="Times New Roman"/>
                <a:sym typeface="Times New Roman"/>
              </a:defRPr>
            </a:pPr>
            <a:r>
              <a:t>Augmented Attention Mechanism:</a:t>
            </a:r>
          </a:p>
          <a:p>
            <a:pPr marL="591552" lvl="1" indent="-210551">
              <a:spcBef>
                <a:spcPts val="300"/>
              </a:spcBef>
              <a:buFontTx/>
              <a:defRPr sz="2100">
                <a:solidFill>
                  <a:schemeClr val="accent6"/>
                </a:solidFill>
                <a:latin typeface="Times New Roman"/>
                <a:ea typeface="Times New Roman"/>
                <a:cs typeface="Times New Roman"/>
                <a:sym typeface="Times New Roman"/>
              </a:defRPr>
            </a:pPr>
            <a:r>
              <a:t>Apply both channel and spatial attention.</a:t>
            </a:r>
          </a:p>
          <a:p>
            <a:pPr marL="591552" lvl="1" indent="-210551">
              <a:spcBef>
                <a:spcPts val="300"/>
              </a:spcBef>
              <a:buFontTx/>
              <a:defRPr sz="2100">
                <a:solidFill>
                  <a:schemeClr val="accent6"/>
                </a:solidFill>
                <a:latin typeface="Times New Roman"/>
                <a:ea typeface="Times New Roman"/>
                <a:cs typeface="Times New Roman"/>
                <a:sym typeface="Times New Roman"/>
              </a:defRPr>
            </a:pPr>
            <a:r>
              <a:t>Focus on important regions and features based on learned attention scores.</a:t>
            </a:r>
          </a:p>
          <a:p>
            <a:pPr marL="210551" indent="-210551">
              <a:spcBef>
                <a:spcPts val="300"/>
              </a:spcBef>
              <a:buFontTx/>
              <a:defRPr sz="2100" b="1">
                <a:solidFill>
                  <a:schemeClr val="accent6"/>
                </a:solidFill>
                <a:latin typeface="Times New Roman"/>
                <a:ea typeface="Times New Roman"/>
                <a:cs typeface="Times New Roman"/>
                <a:sym typeface="Times New Roman"/>
              </a:defRPr>
            </a:pPr>
            <a:r>
              <a:t>Flatten:</a:t>
            </a:r>
            <a:r>
              <a:rPr b="0"/>
              <a:t> Convert the output of the attention mechanism into a 1D vector.</a:t>
            </a:r>
          </a:p>
          <a:p>
            <a:pPr marL="210551" indent="-210551">
              <a:spcBef>
                <a:spcPts val="300"/>
              </a:spcBef>
              <a:buFontTx/>
              <a:defRPr sz="2100" b="1">
                <a:solidFill>
                  <a:schemeClr val="accent6"/>
                </a:solidFill>
                <a:latin typeface="Times New Roman"/>
                <a:ea typeface="Times New Roman"/>
                <a:cs typeface="Times New Roman"/>
                <a:sym typeface="Times New Roman"/>
              </a:defRPr>
            </a:pPr>
            <a:r>
              <a:t>Fully Connected Layers:</a:t>
            </a:r>
          </a:p>
          <a:p>
            <a:pPr marL="591552" lvl="1" indent="-210551">
              <a:spcBef>
                <a:spcPts val="300"/>
              </a:spcBef>
              <a:buFontTx/>
              <a:defRPr sz="2100">
                <a:solidFill>
                  <a:schemeClr val="accent6"/>
                </a:solidFill>
                <a:latin typeface="Times New Roman"/>
                <a:ea typeface="Times New Roman"/>
                <a:cs typeface="Times New Roman"/>
                <a:sym typeface="Times New Roman"/>
              </a:defRPr>
            </a:pPr>
            <a:r>
              <a:t>Dense layers for further feature processing.</a:t>
            </a:r>
          </a:p>
          <a:p>
            <a:pPr marL="591552" lvl="1" indent="-210551">
              <a:spcBef>
                <a:spcPts val="300"/>
              </a:spcBef>
              <a:buFontTx/>
              <a:defRPr sz="2100">
                <a:solidFill>
                  <a:schemeClr val="accent6"/>
                </a:solidFill>
                <a:latin typeface="Times New Roman"/>
                <a:ea typeface="Times New Roman"/>
                <a:cs typeface="Times New Roman"/>
                <a:sym typeface="Times New Roman"/>
              </a:defRPr>
            </a:pPr>
            <a:r>
              <a:t>Dropout layers for regularization.</a:t>
            </a:r>
          </a:p>
          <a:p>
            <a:pPr marL="210551" indent="-210551">
              <a:spcBef>
                <a:spcPts val="300"/>
              </a:spcBef>
              <a:buFontTx/>
              <a:defRPr sz="2100" b="1">
                <a:solidFill>
                  <a:schemeClr val="accent6"/>
                </a:solidFill>
                <a:latin typeface="Times New Roman"/>
                <a:ea typeface="Times New Roman"/>
                <a:cs typeface="Times New Roman"/>
                <a:sym typeface="Times New Roman"/>
              </a:defRPr>
            </a:pPr>
            <a:r>
              <a:t>Output: </a:t>
            </a:r>
            <a:r>
              <a:rPr b="0"/>
              <a:t>Softmax classification into AD, MCI, and Healthy. </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Title 1"/>
          <p:cNvSpPr txBox="1">
            <a:spLocks noGrp="1"/>
          </p:cNvSpPr>
          <p:nvPr>
            <p:ph type="title"/>
          </p:nvPr>
        </p:nvSpPr>
        <p:spPr>
          <a:xfrm>
            <a:off x="27236" y="402555"/>
            <a:ext cx="9826450" cy="1190629"/>
          </a:xfrm>
          <a:prstGeom prst="rect">
            <a:avLst/>
          </a:prstGeom>
        </p:spPr>
        <p:txBody>
          <a:bodyPr/>
          <a:lstStyle>
            <a:lvl1pPr>
              <a:defRPr>
                <a:latin typeface="Times New Roman"/>
                <a:ea typeface="Times New Roman"/>
                <a:cs typeface="Times New Roman"/>
                <a:sym typeface="Times New Roman"/>
              </a:defRPr>
            </a:lvl1pPr>
          </a:lstStyle>
          <a:p>
            <a:r>
              <a:t>EVALUATION METRICS</a:t>
            </a:r>
          </a:p>
        </p:txBody>
      </p:sp>
      <p:pic>
        <p:nvPicPr>
          <p:cNvPr id="256" name="pasted-movie.png" descr="pasted-movie.png"/>
          <p:cNvPicPr>
            <a:picLocks noChangeAspect="1"/>
          </p:cNvPicPr>
          <p:nvPr/>
        </p:nvPicPr>
        <p:blipFill>
          <a:blip r:embed="rId2"/>
          <a:stretch>
            <a:fillRect/>
          </a:stretch>
        </p:blipFill>
        <p:spPr>
          <a:xfrm>
            <a:off x="1182775" y="1461508"/>
            <a:ext cx="9826450" cy="4792027"/>
          </a:xfrm>
          <a:prstGeom prst="rect">
            <a:avLst/>
          </a:prstGeom>
          <a:ln w="12700">
            <a:miter lim="400000"/>
          </a:ln>
        </p:spPr>
      </p:pic>
      <p:sp>
        <p:nvSpPr>
          <p:cNvPr id="3" name="Rectangle 2">
            <a:extLst>
              <a:ext uri="{FF2B5EF4-FFF2-40B4-BE49-F238E27FC236}">
                <a16:creationId xmlns:a16="http://schemas.microsoft.com/office/drawing/2014/main" id="{EB01B152-ED44-B704-95EE-E0714E89B418}"/>
              </a:ext>
            </a:extLst>
          </p:cNvPr>
          <p:cNvSpPr/>
          <p:nvPr/>
        </p:nvSpPr>
        <p:spPr>
          <a:xfrm>
            <a:off x="1386348" y="4178710"/>
            <a:ext cx="1229033" cy="344129"/>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IN" sz="1800" b="0" i="0" u="none" strike="noStrike" cap="none" spc="0" normalizeH="0" baseline="0">
              <a:ln>
                <a:noFill/>
              </a:ln>
              <a:solidFill>
                <a:srgbClr val="FFFFFF"/>
              </a:solidFill>
              <a:effectLst/>
              <a:uFillTx/>
              <a:latin typeface="+mn-lt"/>
              <a:ea typeface="+mn-ea"/>
              <a:cs typeface="+mn-cs"/>
              <a:sym typeface="Helvetica"/>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sp>
        <p:nvSpPr>
          <p:cNvPr id="259"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260"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261"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262"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263"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15</a:t>
            </a:r>
          </a:p>
        </p:txBody>
      </p:sp>
      <p:sp>
        <p:nvSpPr>
          <p:cNvPr id="264" name="RESULTS: MobileNetV2"/>
          <p:cNvSpPr txBox="1">
            <a:spLocks noGrp="1"/>
          </p:cNvSpPr>
          <p:nvPr>
            <p:ph type="title"/>
          </p:nvPr>
        </p:nvSpPr>
        <p:spPr>
          <a:xfrm>
            <a:off x="207896" y="90580"/>
            <a:ext cx="9826450" cy="658593"/>
          </a:xfrm>
          <a:prstGeom prst="rect">
            <a:avLst/>
          </a:prstGeom>
        </p:spPr>
        <p:txBody>
          <a:bodyPr/>
          <a:lstStyle/>
          <a:p>
            <a:pPr>
              <a:defRPr sz="3900">
                <a:solidFill>
                  <a:srgbClr val="FFFFFF"/>
                </a:solidFill>
                <a:latin typeface="Times New Roman"/>
                <a:ea typeface="Times New Roman"/>
                <a:cs typeface="Times New Roman"/>
                <a:sym typeface="Times New Roman"/>
              </a:defRPr>
            </a:pPr>
            <a:r>
              <a:t> Results and Discussion - MobileNetV2</a:t>
            </a:r>
          </a:p>
        </p:txBody>
      </p:sp>
      <p:sp>
        <p:nvSpPr>
          <p:cNvPr id="265" name="TextBox 9"/>
          <p:cNvSpPr txBox="1"/>
          <p:nvPr/>
        </p:nvSpPr>
        <p:spPr>
          <a:xfrm>
            <a:off x="5803431" y="1105464"/>
            <a:ext cx="1844198"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Accuracy Curve</a:t>
            </a:r>
          </a:p>
        </p:txBody>
      </p:sp>
      <p:pic>
        <p:nvPicPr>
          <p:cNvPr id="266" name="Picture 10" descr="Picture 10"/>
          <p:cNvPicPr>
            <a:picLocks noChangeAspect="1"/>
          </p:cNvPicPr>
          <p:nvPr/>
        </p:nvPicPr>
        <p:blipFill>
          <a:blip r:embed="rId2"/>
          <a:stretch>
            <a:fillRect/>
          </a:stretch>
        </p:blipFill>
        <p:spPr>
          <a:xfrm>
            <a:off x="5230762" y="1453011"/>
            <a:ext cx="3327080" cy="2670470"/>
          </a:xfrm>
          <a:prstGeom prst="rect">
            <a:avLst/>
          </a:prstGeom>
          <a:ln w="12700">
            <a:miter lim="400000"/>
          </a:ln>
        </p:spPr>
      </p:pic>
      <p:sp>
        <p:nvSpPr>
          <p:cNvPr id="267" name="TextBox 8"/>
          <p:cNvSpPr txBox="1"/>
          <p:nvPr/>
        </p:nvSpPr>
        <p:spPr>
          <a:xfrm>
            <a:off x="9632394" y="1123057"/>
            <a:ext cx="1326425"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Loss Curve</a:t>
            </a:r>
          </a:p>
        </p:txBody>
      </p:sp>
      <p:pic>
        <p:nvPicPr>
          <p:cNvPr id="268" name="Picture 5" descr="Picture 5"/>
          <p:cNvPicPr>
            <a:picLocks noChangeAspect="1"/>
          </p:cNvPicPr>
          <p:nvPr/>
        </p:nvPicPr>
        <p:blipFill>
          <a:blip r:embed="rId3"/>
          <a:stretch>
            <a:fillRect/>
          </a:stretch>
        </p:blipFill>
        <p:spPr>
          <a:xfrm>
            <a:off x="8648627" y="1453011"/>
            <a:ext cx="3254654" cy="2671927"/>
          </a:xfrm>
          <a:prstGeom prst="rect">
            <a:avLst/>
          </a:prstGeom>
          <a:ln w="12700">
            <a:miter lim="400000"/>
          </a:ln>
        </p:spPr>
      </p:pic>
      <p:sp>
        <p:nvSpPr>
          <p:cNvPr id="269" name="TextBox 2"/>
          <p:cNvSpPr txBox="1"/>
          <p:nvPr/>
        </p:nvSpPr>
        <p:spPr>
          <a:xfrm>
            <a:off x="1175339" y="1091544"/>
            <a:ext cx="2008020"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Confusion Matrix</a:t>
            </a:r>
          </a:p>
        </p:txBody>
      </p:sp>
      <p:pic>
        <p:nvPicPr>
          <p:cNvPr id="270" name="Picture 11" descr="Picture 11"/>
          <p:cNvPicPr>
            <a:picLocks noChangeAspect="1"/>
          </p:cNvPicPr>
          <p:nvPr/>
        </p:nvPicPr>
        <p:blipFill>
          <a:blip r:embed="rId4"/>
          <a:stretch>
            <a:fillRect/>
          </a:stretch>
        </p:blipFill>
        <p:spPr>
          <a:xfrm>
            <a:off x="144770" y="1464906"/>
            <a:ext cx="4425697" cy="2646679"/>
          </a:xfrm>
          <a:prstGeom prst="rect">
            <a:avLst/>
          </a:prstGeom>
          <a:ln w="12700">
            <a:miter lim="400000"/>
          </a:ln>
        </p:spPr>
      </p:pic>
      <p:graphicFrame>
        <p:nvGraphicFramePr>
          <p:cNvPr id="271" name="Content Placeholder 3"/>
          <p:cNvGraphicFramePr/>
          <p:nvPr/>
        </p:nvGraphicFramePr>
        <p:xfrm>
          <a:off x="3144927" y="4212606"/>
          <a:ext cx="7161209" cy="2266556"/>
        </p:xfrm>
        <a:graphic>
          <a:graphicData uri="http://schemas.openxmlformats.org/drawingml/2006/table">
            <a:tbl>
              <a:tblPr firstRow="1" firstCol="1" bandRow="1">
                <a:tableStyleId>{4C3C2611-4C71-4FC5-86AE-919BDF0F9419}</a:tableStyleId>
              </a:tblPr>
              <a:tblGrid>
                <a:gridCol w="1392072">
                  <a:extLst>
                    <a:ext uri="{9D8B030D-6E8A-4147-A177-3AD203B41FA5}">
                      <a16:colId xmlns:a16="http://schemas.microsoft.com/office/drawing/2014/main" val="20000"/>
                    </a:ext>
                  </a:extLst>
                </a:gridCol>
                <a:gridCol w="999220">
                  <a:extLst>
                    <a:ext uri="{9D8B030D-6E8A-4147-A177-3AD203B41FA5}">
                      <a16:colId xmlns:a16="http://schemas.microsoft.com/office/drawing/2014/main" val="20001"/>
                    </a:ext>
                  </a:extLst>
                </a:gridCol>
                <a:gridCol w="958167">
                  <a:extLst>
                    <a:ext uri="{9D8B030D-6E8A-4147-A177-3AD203B41FA5}">
                      <a16:colId xmlns:a16="http://schemas.microsoft.com/office/drawing/2014/main" val="20002"/>
                    </a:ext>
                  </a:extLst>
                </a:gridCol>
                <a:gridCol w="944223">
                  <a:extLst>
                    <a:ext uri="{9D8B030D-6E8A-4147-A177-3AD203B41FA5}">
                      <a16:colId xmlns:a16="http://schemas.microsoft.com/office/drawing/2014/main" val="20003"/>
                    </a:ext>
                  </a:extLst>
                </a:gridCol>
                <a:gridCol w="962755">
                  <a:extLst>
                    <a:ext uri="{9D8B030D-6E8A-4147-A177-3AD203B41FA5}">
                      <a16:colId xmlns:a16="http://schemas.microsoft.com/office/drawing/2014/main" val="20004"/>
                    </a:ext>
                  </a:extLst>
                </a:gridCol>
                <a:gridCol w="945831">
                  <a:extLst>
                    <a:ext uri="{9D8B030D-6E8A-4147-A177-3AD203B41FA5}">
                      <a16:colId xmlns:a16="http://schemas.microsoft.com/office/drawing/2014/main" val="20005"/>
                    </a:ext>
                  </a:extLst>
                </a:gridCol>
                <a:gridCol w="958941">
                  <a:extLst>
                    <a:ext uri="{9D8B030D-6E8A-4147-A177-3AD203B41FA5}">
                      <a16:colId xmlns:a16="http://schemas.microsoft.com/office/drawing/2014/main" val="20006"/>
                    </a:ext>
                  </a:extLst>
                </a:gridCol>
              </a:tblGrid>
              <a:tr h="120409">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Model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Class</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Precision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Recall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F1-Score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Support</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Accuracy</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extLst>
                  <a:ext uri="{0D108BD9-81ED-4DB2-BD59-A6C34878D82A}">
                    <a16:rowId xmlns:a16="http://schemas.microsoft.com/office/drawing/2014/main" val="10000"/>
                  </a:ext>
                </a:extLst>
              </a:tr>
              <a:tr h="505679">
                <a:tc rowSpan="4">
                  <a:txBody>
                    <a:bodyPr/>
                    <a:lstStyle/>
                    <a:p>
                      <a:pPr algn="just" defTabSz="457200">
                        <a:spcBef>
                          <a:spcPts val="600"/>
                        </a:spcBef>
                        <a:defRPr sz="1600" b="1">
                          <a:solidFill>
                            <a:srgbClr val="FFFFFF"/>
                          </a:solidFill>
                          <a:latin typeface="Times New Roman"/>
                          <a:ea typeface="Times New Roman"/>
                          <a:cs typeface="Times New Roman"/>
                          <a:sym typeface="Times New Roman"/>
                        </a:defRPr>
                      </a:pPr>
                      <a:r>
                        <a:t> </a:t>
                      </a:r>
                    </a:p>
                    <a:p>
                      <a:pPr algn="just" defTabSz="457200">
                        <a:spcBef>
                          <a:spcPts val="600"/>
                        </a:spcBef>
                        <a:defRPr sz="1600" b="1">
                          <a:solidFill>
                            <a:srgbClr val="FFFFFF"/>
                          </a:solidFill>
                          <a:latin typeface="Times New Roman"/>
                          <a:ea typeface="Times New Roman"/>
                          <a:cs typeface="Times New Roman"/>
                          <a:sym typeface="Times New Roman"/>
                        </a:defRPr>
                      </a:pPr>
                      <a:r>
                        <a:t> </a:t>
                      </a:r>
                    </a:p>
                    <a:p>
                      <a:pPr algn="just" defTabSz="457200">
                        <a:spcBef>
                          <a:spcPts val="600"/>
                        </a:spcBef>
                        <a:defRPr sz="1600" b="1">
                          <a:solidFill>
                            <a:srgbClr val="FFFFFF"/>
                          </a:solidFill>
                          <a:latin typeface="Times New Roman"/>
                          <a:ea typeface="Times New Roman"/>
                          <a:cs typeface="Times New Roman"/>
                          <a:sym typeface="Times New Roman"/>
                        </a:defRPr>
                      </a:pPr>
                      <a:r>
                        <a:t>MobileNetV2</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Mild Demented</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2693</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rowSpan="4">
                  <a:txBody>
                    <a:bodyPr/>
                    <a:lstStyle/>
                    <a:p>
                      <a:pPr algn="just" defTabSz="457200">
                        <a:spcBef>
                          <a:spcPts val="600"/>
                        </a:spcBef>
                        <a:defRPr sz="1600">
                          <a:solidFill>
                            <a:srgbClr val="000000"/>
                          </a:solidFill>
                          <a:latin typeface="Times New Roman"/>
                          <a:ea typeface="Times New Roman"/>
                          <a:cs typeface="Times New Roman"/>
                          <a:sym typeface="Times New Roman"/>
                        </a:defRPr>
                      </a:pPr>
                      <a:r>
                        <a:t> </a:t>
                      </a:r>
                    </a:p>
                    <a:p>
                      <a:pPr algn="just" defTabSz="457200">
                        <a:spcBef>
                          <a:spcPts val="600"/>
                        </a:spcBef>
                        <a:defRPr sz="1600">
                          <a:solidFill>
                            <a:srgbClr val="000000"/>
                          </a:solidFill>
                          <a:latin typeface="Times New Roman"/>
                          <a:ea typeface="Times New Roman"/>
                          <a:cs typeface="Times New Roman"/>
                          <a:sym typeface="Times New Roman"/>
                        </a:defRPr>
                      </a:pPr>
                      <a:r>
                        <a:t> </a:t>
                      </a:r>
                    </a:p>
                    <a:p>
                      <a:pPr algn="just" defTabSz="457200">
                        <a:spcBef>
                          <a:spcPts val="600"/>
                        </a:spcBef>
                        <a:defRPr sz="1600">
                          <a:solidFill>
                            <a:srgbClr val="000000"/>
                          </a:solidFill>
                          <a:latin typeface="Times New Roman"/>
                          <a:ea typeface="Times New Roman"/>
                          <a:cs typeface="Times New Roman"/>
                          <a:sym typeface="Times New Roman"/>
                        </a:defRPr>
                      </a:pPr>
                      <a:r>
                        <a:t>    98.9%</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extLst>
                  <a:ext uri="{0D108BD9-81ED-4DB2-BD59-A6C34878D82A}">
                    <a16:rowId xmlns:a16="http://schemas.microsoft.com/office/drawing/2014/main" val="10001"/>
                  </a:ext>
                </a:extLst>
              </a:tr>
              <a:tr h="505679">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Moderate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1977</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2"/>
                  </a:ext>
                </a:extLst>
              </a:tr>
              <a:tr h="505679">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Non-Demented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0.98</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0.98</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2811</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vMerge="1">
                  <a:txBody>
                    <a:bodyPr/>
                    <a:lstStyle/>
                    <a:p>
                      <a:endParaRPr lang="en-US"/>
                    </a:p>
                  </a:txBody>
                  <a:tcPr/>
                </a:tc>
                <a:extLst>
                  <a:ext uri="{0D108BD9-81ED-4DB2-BD59-A6C34878D82A}">
                    <a16:rowId xmlns:a16="http://schemas.microsoft.com/office/drawing/2014/main" val="10003"/>
                  </a:ext>
                </a:extLst>
              </a:tr>
              <a:tr h="505679">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Very Mild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0.98</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0.98</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2715</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sp>
        <p:nvSpPr>
          <p:cNvPr id="274"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275"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276"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277"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278"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17</a:t>
            </a:r>
          </a:p>
        </p:txBody>
      </p:sp>
      <p:sp>
        <p:nvSpPr>
          <p:cNvPr id="279" name="RESULTS : MobileNetV2 + ATTENTION"/>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MobileNetV2 + ATTENTION</a:t>
            </a:r>
          </a:p>
        </p:txBody>
      </p:sp>
      <p:graphicFrame>
        <p:nvGraphicFramePr>
          <p:cNvPr id="280" name="Content Placeholder 3"/>
          <p:cNvGraphicFramePr/>
          <p:nvPr/>
        </p:nvGraphicFramePr>
        <p:xfrm>
          <a:off x="4208195" y="4245300"/>
          <a:ext cx="7161209" cy="2266556"/>
        </p:xfrm>
        <a:graphic>
          <a:graphicData uri="http://schemas.openxmlformats.org/drawingml/2006/table">
            <a:tbl>
              <a:tblPr firstRow="1" firstCol="1" bandRow="1">
                <a:tableStyleId>{4C3C2611-4C71-4FC5-86AE-919BDF0F9419}</a:tableStyleId>
              </a:tblPr>
              <a:tblGrid>
                <a:gridCol w="1392072">
                  <a:extLst>
                    <a:ext uri="{9D8B030D-6E8A-4147-A177-3AD203B41FA5}">
                      <a16:colId xmlns:a16="http://schemas.microsoft.com/office/drawing/2014/main" val="20000"/>
                    </a:ext>
                  </a:extLst>
                </a:gridCol>
                <a:gridCol w="999220">
                  <a:extLst>
                    <a:ext uri="{9D8B030D-6E8A-4147-A177-3AD203B41FA5}">
                      <a16:colId xmlns:a16="http://schemas.microsoft.com/office/drawing/2014/main" val="20001"/>
                    </a:ext>
                  </a:extLst>
                </a:gridCol>
                <a:gridCol w="958167">
                  <a:extLst>
                    <a:ext uri="{9D8B030D-6E8A-4147-A177-3AD203B41FA5}">
                      <a16:colId xmlns:a16="http://schemas.microsoft.com/office/drawing/2014/main" val="20002"/>
                    </a:ext>
                  </a:extLst>
                </a:gridCol>
                <a:gridCol w="944223">
                  <a:extLst>
                    <a:ext uri="{9D8B030D-6E8A-4147-A177-3AD203B41FA5}">
                      <a16:colId xmlns:a16="http://schemas.microsoft.com/office/drawing/2014/main" val="20003"/>
                    </a:ext>
                  </a:extLst>
                </a:gridCol>
                <a:gridCol w="962755">
                  <a:extLst>
                    <a:ext uri="{9D8B030D-6E8A-4147-A177-3AD203B41FA5}">
                      <a16:colId xmlns:a16="http://schemas.microsoft.com/office/drawing/2014/main" val="20004"/>
                    </a:ext>
                  </a:extLst>
                </a:gridCol>
                <a:gridCol w="945831">
                  <a:extLst>
                    <a:ext uri="{9D8B030D-6E8A-4147-A177-3AD203B41FA5}">
                      <a16:colId xmlns:a16="http://schemas.microsoft.com/office/drawing/2014/main" val="20005"/>
                    </a:ext>
                  </a:extLst>
                </a:gridCol>
                <a:gridCol w="958941">
                  <a:extLst>
                    <a:ext uri="{9D8B030D-6E8A-4147-A177-3AD203B41FA5}">
                      <a16:colId xmlns:a16="http://schemas.microsoft.com/office/drawing/2014/main" val="20006"/>
                    </a:ext>
                  </a:extLst>
                </a:gridCol>
              </a:tblGrid>
              <a:tr h="120409">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Model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Class</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Precision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Recall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F1-Score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Support</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Accuracy</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extLst>
                  <a:ext uri="{0D108BD9-81ED-4DB2-BD59-A6C34878D82A}">
                    <a16:rowId xmlns:a16="http://schemas.microsoft.com/office/drawing/2014/main" val="10000"/>
                  </a:ext>
                </a:extLst>
              </a:tr>
              <a:tr h="505679">
                <a:tc rowSpan="4">
                  <a:txBody>
                    <a:bodyPr/>
                    <a:lstStyle/>
                    <a:p>
                      <a:pPr algn="just" defTabSz="457200">
                        <a:spcBef>
                          <a:spcPts val="600"/>
                        </a:spcBef>
                        <a:defRPr sz="1600" b="1">
                          <a:solidFill>
                            <a:srgbClr val="FFFFFF"/>
                          </a:solidFill>
                          <a:latin typeface="Times New Roman"/>
                          <a:ea typeface="Times New Roman"/>
                          <a:cs typeface="Times New Roman"/>
                          <a:sym typeface="Times New Roman"/>
                        </a:defRPr>
                      </a:pPr>
                      <a:r>
                        <a:t> </a:t>
                      </a:r>
                    </a:p>
                    <a:p>
                      <a:pPr algn="just" defTabSz="457200">
                        <a:spcBef>
                          <a:spcPts val="600"/>
                        </a:spcBef>
                        <a:defRPr sz="1600" b="1">
                          <a:solidFill>
                            <a:srgbClr val="FFFFFF"/>
                          </a:solidFill>
                          <a:latin typeface="Times New Roman"/>
                          <a:ea typeface="Times New Roman"/>
                          <a:cs typeface="Times New Roman"/>
                          <a:sym typeface="Times New Roman"/>
                        </a:defRPr>
                      </a:pPr>
                      <a:r>
                        <a:t> </a:t>
                      </a:r>
                    </a:p>
                    <a:p>
                      <a:pPr algn="just" defTabSz="457200">
                        <a:spcBef>
                          <a:spcPts val="600"/>
                        </a:spcBef>
                        <a:defRPr sz="1600" b="1">
                          <a:solidFill>
                            <a:srgbClr val="FFFFFF"/>
                          </a:solidFill>
                          <a:latin typeface="Times New Roman"/>
                          <a:ea typeface="Times New Roman"/>
                          <a:cs typeface="Times New Roman"/>
                          <a:sym typeface="Times New Roman"/>
                        </a:defRPr>
                      </a:pPr>
                      <a:r>
                        <a:t>MobileNetV2</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Mild Demented</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2693</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rowSpan="4">
                  <a:txBody>
                    <a:bodyPr/>
                    <a:lstStyle/>
                    <a:p>
                      <a:pPr algn="just" defTabSz="457200">
                        <a:spcBef>
                          <a:spcPts val="600"/>
                        </a:spcBef>
                        <a:defRPr sz="1600">
                          <a:solidFill>
                            <a:srgbClr val="000000"/>
                          </a:solidFill>
                          <a:latin typeface="Times New Roman"/>
                          <a:ea typeface="Times New Roman"/>
                          <a:cs typeface="Times New Roman"/>
                          <a:sym typeface="Times New Roman"/>
                        </a:defRPr>
                      </a:pPr>
                      <a:r>
                        <a:t> </a:t>
                      </a:r>
                    </a:p>
                    <a:p>
                      <a:pPr algn="just" defTabSz="457200">
                        <a:spcBef>
                          <a:spcPts val="600"/>
                        </a:spcBef>
                        <a:defRPr sz="1600">
                          <a:solidFill>
                            <a:srgbClr val="000000"/>
                          </a:solidFill>
                          <a:latin typeface="Times New Roman"/>
                          <a:ea typeface="Times New Roman"/>
                          <a:cs typeface="Times New Roman"/>
                          <a:sym typeface="Times New Roman"/>
                        </a:defRPr>
                      </a:pPr>
                      <a:r>
                        <a:t> </a:t>
                      </a:r>
                    </a:p>
                    <a:p>
                      <a:pPr algn="just" defTabSz="457200">
                        <a:spcBef>
                          <a:spcPts val="600"/>
                        </a:spcBef>
                        <a:defRPr sz="1600">
                          <a:solidFill>
                            <a:srgbClr val="000000"/>
                          </a:solidFill>
                          <a:latin typeface="Times New Roman"/>
                          <a:ea typeface="Times New Roman"/>
                          <a:cs typeface="Times New Roman"/>
                          <a:sym typeface="Times New Roman"/>
                        </a:defRPr>
                      </a:pPr>
                      <a:r>
                        <a:t>    99.6%</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extLst>
                  <a:ext uri="{0D108BD9-81ED-4DB2-BD59-A6C34878D82A}">
                    <a16:rowId xmlns:a16="http://schemas.microsoft.com/office/drawing/2014/main" val="10001"/>
                  </a:ext>
                </a:extLst>
              </a:tr>
              <a:tr h="505679">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Moderate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1977</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2"/>
                  </a:ext>
                </a:extLst>
              </a:tr>
              <a:tr h="505679">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Non-Demented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2811</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vMerge="1">
                  <a:txBody>
                    <a:bodyPr/>
                    <a:lstStyle/>
                    <a:p>
                      <a:endParaRPr lang="en-US"/>
                    </a:p>
                  </a:txBody>
                  <a:tcPr/>
                </a:tc>
                <a:extLst>
                  <a:ext uri="{0D108BD9-81ED-4DB2-BD59-A6C34878D82A}">
                    <a16:rowId xmlns:a16="http://schemas.microsoft.com/office/drawing/2014/main" val="10003"/>
                  </a:ext>
                </a:extLst>
              </a:tr>
              <a:tr h="505679">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Very Mild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2715</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281" name="TextBox 4"/>
          <p:cNvSpPr txBox="1"/>
          <p:nvPr/>
        </p:nvSpPr>
        <p:spPr>
          <a:xfrm>
            <a:off x="1071717" y="1048304"/>
            <a:ext cx="2008020"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Confusion Matrix</a:t>
            </a:r>
          </a:p>
        </p:txBody>
      </p:sp>
      <p:sp>
        <p:nvSpPr>
          <p:cNvPr id="282" name="TextBox 5"/>
          <p:cNvSpPr txBox="1"/>
          <p:nvPr/>
        </p:nvSpPr>
        <p:spPr>
          <a:xfrm>
            <a:off x="4808375" y="1057066"/>
            <a:ext cx="1844198"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Accuracy Curve</a:t>
            </a:r>
          </a:p>
        </p:txBody>
      </p:sp>
      <p:sp>
        <p:nvSpPr>
          <p:cNvPr id="283" name="TextBox 6"/>
          <p:cNvSpPr txBox="1"/>
          <p:nvPr/>
        </p:nvSpPr>
        <p:spPr>
          <a:xfrm>
            <a:off x="8824372" y="1048304"/>
            <a:ext cx="1326425"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Loss Curve</a:t>
            </a:r>
          </a:p>
        </p:txBody>
      </p:sp>
      <p:pic>
        <p:nvPicPr>
          <p:cNvPr id="284" name="Picture 2" descr="Picture 2"/>
          <p:cNvPicPr>
            <a:picLocks noChangeAspect="1"/>
          </p:cNvPicPr>
          <p:nvPr/>
        </p:nvPicPr>
        <p:blipFill>
          <a:blip r:embed="rId2"/>
          <a:stretch>
            <a:fillRect/>
          </a:stretch>
        </p:blipFill>
        <p:spPr>
          <a:xfrm>
            <a:off x="7809017" y="1417636"/>
            <a:ext cx="3302147" cy="2651763"/>
          </a:xfrm>
          <a:prstGeom prst="rect">
            <a:avLst/>
          </a:prstGeom>
          <a:ln w="12700">
            <a:miter lim="400000"/>
          </a:ln>
        </p:spPr>
      </p:pic>
      <p:pic>
        <p:nvPicPr>
          <p:cNvPr id="285" name="Picture 8" descr="Picture 8"/>
          <p:cNvPicPr>
            <a:picLocks noChangeAspect="1"/>
          </p:cNvPicPr>
          <p:nvPr/>
        </p:nvPicPr>
        <p:blipFill>
          <a:blip r:embed="rId3"/>
          <a:stretch>
            <a:fillRect/>
          </a:stretch>
        </p:blipFill>
        <p:spPr>
          <a:xfrm>
            <a:off x="4208195" y="1429919"/>
            <a:ext cx="3302147" cy="2651762"/>
          </a:xfrm>
          <a:prstGeom prst="rect">
            <a:avLst/>
          </a:prstGeom>
          <a:ln w="12700">
            <a:miter lim="400000"/>
          </a:ln>
        </p:spPr>
      </p:pic>
      <p:pic>
        <p:nvPicPr>
          <p:cNvPr id="286" name="Picture 9" descr="Picture 9"/>
          <p:cNvPicPr>
            <a:picLocks noChangeAspect="1"/>
          </p:cNvPicPr>
          <p:nvPr/>
        </p:nvPicPr>
        <p:blipFill>
          <a:blip r:embed="rId4"/>
          <a:stretch>
            <a:fillRect/>
          </a:stretch>
        </p:blipFill>
        <p:spPr>
          <a:xfrm>
            <a:off x="220490" y="1426398"/>
            <a:ext cx="3710478" cy="3191257"/>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
        <p:nvSpPr>
          <p:cNvPr id="289"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290"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291"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292"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293"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19</a:t>
            </a:r>
          </a:p>
        </p:txBody>
      </p:sp>
      <p:sp>
        <p:nvSpPr>
          <p:cNvPr id="294" name="RESULTS : ResNet50"/>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Results and Discussion : ResNet50</a:t>
            </a:r>
          </a:p>
        </p:txBody>
      </p:sp>
      <p:graphicFrame>
        <p:nvGraphicFramePr>
          <p:cNvPr id="295" name="Table 6"/>
          <p:cNvGraphicFramePr/>
          <p:nvPr/>
        </p:nvGraphicFramePr>
        <p:xfrm>
          <a:off x="2210967" y="4184527"/>
          <a:ext cx="7221540" cy="2342049"/>
        </p:xfrm>
        <a:graphic>
          <a:graphicData uri="http://schemas.openxmlformats.org/drawingml/2006/table">
            <a:tbl>
              <a:tblPr firstRow="1" firstCol="1" bandRow="1">
                <a:tableStyleId>{4C3C2611-4C71-4FC5-86AE-919BDF0F9419}</a:tableStyleId>
              </a:tblPr>
              <a:tblGrid>
                <a:gridCol w="1481118">
                  <a:extLst>
                    <a:ext uri="{9D8B030D-6E8A-4147-A177-3AD203B41FA5}">
                      <a16:colId xmlns:a16="http://schemas.microsoft.com/office/drawing/2014/main" val="20000"/>
                    </a:ext>
                  </a:extLst>
                </a:gridCol>
                <a:gridCol w="994246">
                  <a:extLst>
                    <a:ext uri="{9D8B030D-6E8A-4147-A177-3AD203B41FA5}">
                      <a16:colId xmlns:a16="http://schemas.microsoft.com/office/drawing/2014/main" val="20001"/>
                    </a:ext>
                  </a:extLst>
                </a:gridCol>
                <a:gridCol w="953398">
                  <a:extLst>
                    <a:ext uri="{9D8B030D-6E8A-4147-A177-3AD203B41FA5}">
                      <a16:colId xmlns:a16="http://schemas.microsoft.com/office/drawing/2014/main" val="20002"/>
                    </a:ext>
                  </a:extLst>
                </a:gridCol>
                <a:gridCol w="939524">
                  <a:extLst>
                    <a:ext uri="{9D8B030D-6E8A-4147-A177-3AD203B41FA5}">
                      <a16:colId xmlns:a16="http://schemas.microsoft.com/office/drawing/2014/main" val="20003"/>
                    </a:ext>
                  </a:extLst>
                </a:gridCol>
                <a:gridCol w="949543">
                  <a:extLst>
                    <a:ext uri="{9D8B030D-6E8A-4147-A177-3AD203B41FA5}">
                      <a16:colId xmlns:a16="http://schemas.microsoft.com/office/drawing/2014/main" val="20004"/>
                    </a:ext>
                  </a:extLst>
                </a:gridCol>
                <a:gridCol w="949543">
                  <a:extLst>
                    <a:ext uri="{9D8B030D-6E8A-4147-A177-3AD203B41FA5}">
                      <a16:colId xmlns:a16="http://schemas.microsoft.com/office/drawing/2014/main" val="20005"/>
                    </a:ext>
                  </a:extLst>
                </a:gridCol>
                <a:gridCol w="954168">
                  <a:extLst>
                    <a:ext uri="{9D8B030D-6E8A-4147-A177-3AD203B41FA5}">
                      <a16:colId xmlns:a16="http://schemas.microsoft.com/office/drawing/2014/main" val="20006"/>
                    </a:ext>
                  </a:extLst>
                </a:gridCol>
              </a:tblGrid>
              <a:tr h="326497">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Model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Class</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Precision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Recall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F1-Score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Support</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Accuracy</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extLst>
                  <a:ext uri="{0D108BD9-81ED-4DB2-BD59-A6C34878D82A}">
                    <a16:rowId xmlns:a16="http://schemas.microsoft.com/office/drawing/2014/main" val="10000"/>
                  </a:ext>
                </a:extLst>
              </a:tr>
              <a:tr h="503888">
                <a:tc rowSpan="4">
                  <a:txBody>
                    <a:bodyPr/>
                    <a:lstStyle/>
                    <a:p>
                      <a:pPr algn="just" defTabSz="457200">
                        <a:spcBef>
                          <a:spcPts val="600"/>
                        </a:spcBef>
                        <a:defRPr sz="1600" b="1">
                          <a:solidFill>
                            <a:srgbClr val="FFFFFF"/>
                          </a:solidFill>
                          <a:latin typeface="Times New Roman"/>
                          <a:ea typeface="Times New Roman"/>
                          <a:cs typeface="Times New Roman"/>
                          <a:sym typeface="Times New Roman"/>
                        </a:defRPr>
                      </a:pPr>
                      <a:r>
                        <a:t> </a:t>
                      </a:r>
                    </a:p>
                    <a:p>
                      <a:pPr algn="just" defTabSz="457200">
                        <a:spcBef>
                          <a:spcPts val="600"/>
                        </a:spcBef>
                        <a:defRPr sz="1600" b="1">
                          <a:solidFill>
                            <a:srgbClr val="FFFFFF"/>
                          </a:solidFill>
                          <a:latin typeface="Times New Roman"/>
                          <a:ea typeface="Times New Roman"/>
                          <a:cs typeface="Times New Roman"/>
                          <a:sym typeface="Times New Roman"/>
                        </a:defRPr>
                      </a:pPr>
                      <a:r>
                        <a:t> </a:t>
                      </a:r>
                    </a:p>
                    <a:p>
                      <a:pPr algn="just" defTabSz="457200">
                        <a:spcBef>
                          <a:spcPts val="600"/>
                        </a:spcBef>
                        <a:defRPr sz="1600" b="1">
                          <a:solidFill>
                            <a:srgbClr val="FFFFFF"/>
                          </a:solidFill>
                          <a:latin typeface="Times New Roman"/>
                          <a:ea typeface="Times New Roman"/>
                          <a:cs typeface="Times New Roman"/>
                          <a:sym typeface="Times New Roman"/>
                        </a:defRPr>
                      </a:pPr>
                      <a:r>
                        <a:t>ResNet50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Mild Demented</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0.86</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0.92</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2693</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rowSpan="4">
                  <a:txBody>
                    <a:bodyPr/>
                    <a:lstStyle/>
                    <a:p>
                      <a:pPr algn="just" defTabSz="457200">
                        <a:spcBef>
                          <a:spcPts val="600"/>
                        </a:spcBef>
                        <a:defRPr sz="1600">
                          <a:solidFill>
                            <a:srgbClr val="000000"/>
                          </a:solidFill>
                          <a:latin typeface="Times New Roman"/>
                          <a:ea typeface="Times New Roman"/>
                          <a:cs typeface="Times New Roman"/>
                          <a:sym typeface="Times New Roman"/>
                        </a:defRPr>
                      </a:pPr>
                      <a:r>
                        <a:t> </a:t>
                      </a:r>
                    </a:p>
                    <a:p>
                      <a:pPr algn="just" defTabSz="457200">
                        <a:spcBef>
                          <a:spcPts val="600"/>
                        </a:spcBef>
                        <a:defRPr sz="1600">
                          <a:solidFill>
                            <a:srgbClr val="000000"/>
                          </a:solidFill>
                          <a:latin typeface="Times New Roman"/>
                          <a:ea typeface="Times New Roman"/>
                          <a:cs typeface="Times New Roman"/>
                          <a:sym typeface="Times New Roman"/>
                        </a:defRPr>
                      </a:pPr>
                      <a:r>
                        <a:t> </a:t>
                      </a:r>
                    </a:p>
                    <a:p>
                      <a:pPr algn="just" defTabSz="457200">
                        <a:spcBef>
                          <a:spcPts val="600"/>
                        </a:spcBef>
                        <a:defRPr sz="1600">
                          <a:solidFill>
                            <a:srgbClr val="000000"/>
                          </a:solidFill>
                          <a:latin typeface="Times New Roman"/>
                          <a:ea typeface="Times New Roman"/>
                          <a:cs typeface="Times New Roman"/>
                          <a:sym typeface="Times New Roman"/>
                        </a:defRPr>
                      </a:pPr>
                      <a:r>
                        <a:t>    94.7%</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extLst>
                  <a:ext uri="{0D108BD9-81ED-4DB2-BD59-A6C34878D82A}">
                    <a16:rowId xmlns:a16="http://schemas.microsoft.com/office/drawing/2014/main" val="10001"/>
                  </a:ext>
                </a:extLst>
              </a:tr>
              <a:tr h="503888">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Moderate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0.98</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1977</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2"/>
                  </a:ext>
                </a:extLst>
              </a:tr>
              <a:tr h="503888">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Non-Demented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0.92</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0.95</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2811</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vMerge="1">
                  <a:txBody>
                    <a:bodyPr/>
                    <a:lstStyle/>
                    <a:p>
                      <a:endParaRPr lang="en-US"/>
                    </a:p>
                  </a:txBody>
                  <a:tcPr/>
                </a:tc>
                <a:extLst>
                  <a:ext uri="{0D108BD9-81ED-4DB2-BD59-A6C34878D82A}">
                    <a16:rowId xmlns:a16="http://schemas.microsoft.com/office/drawing/2014/main" val="10003"/>
                  </a:ext>
                </a:extLst>
              </a:tr>
              <a:tr h="503888">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Very Mild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0.89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0.93</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2715</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296" name="TextBox 2"/>
          <p:cNvSpPr txBox="1"/>
          <p:nvPr/>
        </p:nvSpPr>
        <p:spPr>
          <a:xfrm>
            <a:off x="6003549" y="1078320"/>
            <a:ext cx="1844198"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Accuracy Curve</a:t>
            </a:r>
          </a:p>
        </p:txBody>
      </p:sp>
      <p:sp>
        <p:nvSpPr>
          <p:cNvPr id="297" name="TextBox 8"/>
          <p:cNvSpPr txBox="1"/>
          <p:nvPr/>
        </p:nvSpPr>
        <p:spPr>
          <a:xfrm>
            <a:off x="836905" y="1073308"/>
            <a:ext cx="2008020"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Confusion Matrix</a:t>
            </a:r>
          </a:p>
        </p:txBody>
      </p:sp>
      <p:sp>
        <p:nvSpPr>
          <p:cNvPr id="298" name="TextBox 9"/>
          <p:cNvSpPr txBox="1"/>
          <p:nvPr/>
        </p:nvSpPr>
        <p:spPr>
          <a:xfrm>
            <a:off x="9901735" y="1103695"/>
            <a:ext cx="1326425"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Loss Curve</a:t>
            </a:r>
          </a:p>
        </p:txBody>
      </p:sp>
      <p:pic>
        <p:nvPicPr>
          <p:cNvPr id="299" name="Picture 7" descr="Picture 7"/>
          <p:cNvPicPr>
            <a:picLocks noChangeAspect="1"/>
          </p:cNvPicPr>
          <p:nvPr/>
        </p:nvPicPr>
        <p:blipFill>
          <a:blip r:embed="rId2"/>
          <a:stretch>
            <a:fillRect/>
          </a:stretch>
        </p:blipFill>
        <p:spPr>
          <a:xfrm>
            <a:off x="5223338" y="1395334"/>
            <a:ext cx="3404626" cy="2734058"/>
          </a:xfrm>
          <a:prstGeom prst="rect">
            <a:avLst/>
          </a:prstGeom>
          <a:ln w="12700">
            <a:miter lim="400000"/>
          </a:ln>
        </p:spPr>
      </p:pic>
      <p:pic>
        <p:nvPicPr>
          <p:cNvPr id="300" name="Picture 11" descr="Picture 11"/>
          <p:cNvPicPr>
            <a:picLocks noChangeAspect="1"/>
          </p:cNvPicPr>
          <p:nvPr/>
        </p:nvPicPr>
        <p:blipFill>
          <a:blip r:embed="rId3"/>
          <a:stretch>
            <a:fillRect/>
          </a:stretch>
        </p:blipFill>
        <p:spPr>
          <a:xfrm>
            <a:off x="8798252" y="1442640"/>
            <a:ext cx="3330509" cy="2734057"/>
          </a:xfrm>
          <a:prstGeom prst="rect">
            <a:avLst/>
          </a:prstGeom>
          <a:ln w="12700">
            <a:miter lim="400000"/>
          </a:ln>
        </p:spPr>
      </p:pic>
      <p:pic>
        <p:nvPicPr>
          <p:cNvPr id="301" name="Picture 12" descr="Picture 12"/>
          <p:cNvPicPr>
            <a:picLocks noChangeAspect="1"/>
          </p:cNvPicPr>
          <p:nvPr/>
        </p:nvPicPr>
        <p:blipFill>
          <a:blip r:embed="rId4"/>
          <a:stretch>
            <a:fillRect/>
          </a:stretch>
        </p:blipFill>
        <p:spPr>
          <a:xfrm>
            <a:off x="63238" y="1442640"/>
            <a:ext cx="4571814" cy="2734057"/>
          </a:xfrm>
          <a:prstGeom prst="rect">
            <a:avLst/>
          </a:prstGeom>
          <a:ln w="12700">
            <a:miter lim="400000"/>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
        <p:nvSpPr>
          <p:cNvPr id="304"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305"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306"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307"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308"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21</a:t>
            </a:r>
          </a:p>
        </p:txBody>
      </p:sp>
      <p:sp>
        <p:nvSpPr>
          <p:cNvPr id="309" name="RESULTS: ResNet50 + ATTENTION"/>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RESULTS: ResNet50 + ATTENTION</a:t>
            </a:r>
          </a:p>
        </p:txBody>
      </p:sp>
      <p:graphicFrame>
        <p:nvGraphicFramePr>
          <p:cNvPr id="310" name="Table 6"/>
          <p:cNvGraphicFramePr/>
          <p:nvPr/>
        </p:nvGraphicFramePr>
        <p:xfrm>
          <a:off x="2740049" y="4184527"/>
          <a:ext cx="7221540" cy="2342049"/>
        </p:xfrm>
        <a:graphic>
          <a:graphicData uri="http://schemas.openxmlformats.org/drawingml/2006/table">
            <a:tbl>
              <a:tblPr firstRow="1" firstCol="1" bandRow="1">
                <a:tableStyleId>{4C3C2611-4C71-4FC5-86AE-919BDF0F9419}</a:tableStyleId>
              </a:tblPr>
              <a:tblGrid>
                <a:gridCol w="1481118">
                  <a:extLst>
                    <a:ext uri="{9D8B030D-6E8A-4147-A177-3AD203B41FA5}">
                      <a16:colId xmlns:a16="http://schemas.microsoft.com/office/drawing/2014/main" val="20000"/>
                    </a:ext>
                  </a:extLst>
                </a:gridCol>
                <a:gridCol w="994246">
                  <a:extLst>
                    <a:ext uri="{9D8B030D-6E8A-4147-A177-3AD203B41FA5}">
                      <a16:colId xmlns:a16="http://schemas.microsoft.com/office/drawing/2014/main" val="20001"/>
                    </a:ext>
                  </a:extLst>
                </a:gridCol>
                <a:gridCol w="953398">
                  <a:extLst>
                    <a:ext uri="{9D8B030D-6E8A-4147-A177-3AD203B41FA5}">
                      <a16:colId xmlns:a16="http://schemas.microsoft.com/office/drawing/2014/main" val="20002"/>
                    </a:ext>
                  </a:extLst>
                </a:gridCol>
                <a:gridCol w="939524">
                  <a:extLst>
                    <a:ext uri="{9D8B030D-6E8A-4147-A177-3AD203B41FA5}">
                      <a16:colId xmlns:a16="http://schemas.microsoft.com/office/drawing/2014/main" val="20003"/>
                    </a:ext>
                  </a:extLst>
                </a:gridCol>
                <a:gridCol w="949543">
                  <a:extLst>
                    <a:ext uri="{9D8B030D-6E8A-4147-A177-3AD203B41FA5}">
                      <a16:colId xmlns:a16="http://schemas.microsoft.com/office/drawing/2014/main" val="20004"/>
                    </a:ext>
                  </a:extLst>
                </a:gridCol>
                <a:gridCol w="949543">
                  <a:extLst>
                    <a:ext uri="{9D8B030D-6E8A-4147-A177-3AD203B41FA5}">
                      <a16:colId xmlns:a16="http://schemas.microsoft.com/office/drawing/2014/main" val="20005"/>
                    </a:ext>
                  </a:extLst>
                </a:gridCol>
                <a:gridCol w="954168">
                  <a:extLst>
                    <a:ext uri="{9D8B030D-6E8A-4147-A177-3AD203B41FA5}">
                      <a16:colId xmlns:a16="http://schemas.microsoft.com/office/drawing/2014/main" val="20006"/>
                    </a:ext>
                  </a:extLst>
                </a:gridCol>
              </a:tblGrid>
              <a:tr h="326497">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Model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Class</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Precision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Recall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F1-Score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Support</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b="1">
                          <a:solidFill>
                            <a:srgbClr val="FFFFFF"/>
                          </a:solidFill>
                          <a:latin typeface="Times New Roman"/>
                          <a:ea typeface="Times New Roman"/>
                          <a:cs typeface="Times New Roman"/>
                          <a:sym typeface="Times New Roman"/>
                        </a:rPr>
                        <a:t>Accuracy</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extLst>
                  <a:ext uri="{0D108BD9-81ED-4DB2-BD59-A6C34878D82A}">
                    <a16:rowId xmlns:a16="http://schemas.microsoft.com/office/drawing/2014/main" val="10000"/>
                  </a:ext>
                </a:extLst>
              </a:tr>
              <a:tr h="503888">
                <a:tc rowSpan="4">
                  <a:txBody>
                    <a:bodyPr/>
                    <a:lstStyle/>
                    <a:p>
                      <a:pPr algn="just" defTabSz="457200">
                        <a:spcBef>
                          <a:spcPts val="600"/>
                        </a:spcBef>
                        <a:defRPr sz="1600" b="1">
                          <a:solidFill>
                            <a:srgbClr val="FFFFFF"/>
                          </a:solidFill>
                          <a:latin typeface="Times New Roman"/>
                          <a:ea typeface="Times New Roman"/>
                          <a:cs typeface="Times New Roman"/>
                          <a:sym typeface="Times New Roman"/>
                        </a:defRPr>
                      </a:pPr>
                      <a:r>
                        <a:t> </a:t>
                      </a:r>
                    </a:p>
                    <a:p>
                      <a:pPr algn="just" defTabSz="457200">
                        <a:spcBef>
                          <a:spcPts val="600"/>
                        </a:spcBef>
                        <a:defRPr sz="1600" b="1">
                          <a:solidFill>
                            <a:srgbClr val="FFFFFF"/>
                          </a:solidFill>
                          <a:latin typeface="Times New Roman"/>
                          <a:ea typeface="Times New Roman"/>
                          <a:cs typeface="Times New Roman"/>
                          <a:sym typeface="Times New Roman"/>
                        </a:defRPr>
                      </a:pPr>
                      <a:r>
                        <a:t> </a:t>
                      </a:r>
                    </a:p>
                    <a:p>
                      <a:pPr algn="just" defTabSz="457200">
                        <a:spcBef>
                          <a:spcPts val="600"/>
                        </a:spcBef>
                        <a:defRPr sz="1600" b="1">
                          <a:solidFill>
                            <a:srgbClr val="FFFFFF"/>
                          </a:solidFill>
                          <a:latin typeface="Times New Roman"/>
                          <a:ea typeface="Times New Roman"/>
                          <a:cs typeface="Times New Roman"/>
                          <a:sym typeface="Times New Roman"/>
                        </a:defRPr>
                      </a:pPr>
                      <a:r>
                        <a:t>ResNet50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lumOff val="-8823"/>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Mild Demented</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2693</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rowSpan="4">
                  <a:txBody>
                    <a:bodyPr/>
                    <a:lstStyle/>
                    <a:p>
                      <a:pPr algn="just" defTabSz="457200">
                        <a:spcBef>
                          <a:spcPts val="600"/>
                        </a:spcBef>
                        <a:defRPr sz="1600">
                          <a:solidFill>
                            <a:srgbClr val="000000"/>
                          </a:solidFill>
                          <a:latin typeface="Times New Roman"/>
                          <a:ea typeface="Times New Roman"/>
                          <a:cs typeface="Times New Roman"/>
                          <a:sym typeface="Times New Roman"/>
                        </a:defRPr>
                      </a:pPr>
                      <a:r>
                        <a:t> </a:t>
                      </a:r>
                    </a:p>
                    <a:p>
                      <a:pPr algn="just" defTabSz="457200">
                        <a:spcBef>
                          <a:spcPts val="600"/>
                        </a:spcBef>
                        <a:defRPr sz="1600">
                          <a:solidFill>
                            <a:srgbClr val="000000"/>
                          </a:solidFill>
                          <a:latin typeface="Times New Roman"/>
                          <a:ea typeface="Times New Roman"/>
                          <a:cs typeface="Times New Roman"/>
                          <a:sym typeface="Times New Roman"/>
                        </a:defRPr>
                      </a:pPr>
                      <a:r>
                        <a:t> </a:t>
                      </a:r>
                    </a:p>
                    <a:p>
                      <a:pPr algn="just" defTabSz="457200">
                        <a:spcBef>
                          <a:spcPts val="600"/>
                        </a:spcBef>
                        <a:defRPr sz="1600">
                          <a:solidFill>
                            <a:srgbClr val="000000"/>
                          </a:solidFill>
                          <a:latin typeface="Times New Roman"/>
                          <a:ea typeface="Times New Roman"/>
                          <a:cs typeface="Times New Roman"/>
                          <a:sym typeface="Times New Roman"/>
                        </a:defRPr>
                      </a:pPr>
                      <a:r>
                        <a:t>    99.3%</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extLst>
                  <a:ext uri="{0D108BD9-81ED-4DB2-BD59-A6C34878D82A}">
                    <a16:rowId xmlns:a16="http://schemas.microsoft.com/office/drawing/2014/main" val="10001"/>
                  </a:ext>
                </a:extLst>
              </a:tr>
              <a:tr h="503888">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Moderate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1977</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2"/>
                  </a:ext>
                </a:extLst>
              </a:tr>
              <a:tr h="503888">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Non-Demented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2811</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vMerge="1">
                  <a:txBody>
                    <a:bodyPr/>
                    <a:lstStyle/>
                    <a:p>
                      <a:endParaRPr lang="en-US"/>
                    </a:p>
                  </a:txBody>
                  <a:tcPr/>
                </a:tc>
                <a:extLst>
                  <a:ext uri="{0D108BD9-81ED-4DB2-BD59-A6C34878D82A}">
                    <a16:rowId xmlns:a16="http://schemas.microsoft.com/office/drawing/2014/main" val="10003"/>
                  </a:ext>
                </a:extLst>
              </a:tr>
              <a:tr h="503888">
                <a:tc vMerge="1">
                  <a:txBody>
                    <a:bodyPr/>
                    <a:lstStyle/>
                    <a:p>
                      <a:endParaRPr lang="en-US"/>
                    </a:p>
                  </a:txBody>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Very Mild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0.99</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spcBef>
                          <a:spcPts val="600"/>
                        </a:spcBef>
                        <a:defRPr sz="1800">
                          <a:solidFill>
                            <a:srgbClr val="000000"/>
                          </a:solidFill>
                        </a:defRPr>
                      </a:pPr>
                      <a:r>
                        <a:rPr sz="1600">
                          <a:latin typeface="Times New Roman"/>
                          <a:ea typeface="Times New Roman"/>
                          <a:cs typeface="Times New Roman"/>
                          <a:sym typeface="Times New Roman"/>
                        </a:rPr>
                        <a:t>2715</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311" name="TextBox 2"/>
          <p:cNvSpPr txBox="1"/>
          <p:nvPr/>
        </p:nvSpPr>
        <p:spPr>
          <a:xfrm>
            <a:off x="6003549" y="1078320"/>
            <a:ext cx="1844198"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Accuracy Curve</a:t>
            </a:r>
          </a:p>
        </p:txBody>
      </p:sp>
      <p:sp>
        <p:nvSpPr>
          <p:cNvPr id="312" name="TextBox 8"/>
          <p:cNvSpPr txBox="1"/>
          <p:nvPr/>
        </p:nvSpPr>
        <p:spPr>
          <a:xfrm>
            <a:off x="1238512" y="1103695"/>
            <a:ext cx="2008020"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Confusion Matrix</a:t>
            </a:r>
          </a:p>
        </p:txBody>
      </p:sp>
      <p:sp>
        <p:nvSpPr>
          <p:cNvPr id="313" name="TextBox 9"/>
          <p:cNvSpPr txBox="1"/>
          <p:nvPr/>
        </p:nvSpPr>
        <p:spPr>
          <a:xfrm>
            <a:off x="9901735" y="1103695"/>
            <a:ext cx="1326425"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Loss Curve</a:t>
            </a:r>
          </a:p>
        </p:txBody>
      </p:sp>
      <p:pic>
        <p:nvPicPr>
          <p:cNvPr id="314" name="Picture 3" descr="Picture 3"/>
          <p:cNvPicPr>
            <a:picLocks noChangeAspect="1"/>
          </p:cNvPicPr>
          <p:nvPr/>
        </p:nvPicPr>
        <p:blipFill>
          <a:blip r:embed="rId2"/>
          <a:stretch>
            <a:fillRect/>
          </a:stretch>
        </p:blipFill>
        <p:spPr>
          <a:xfrm>
            <a:off x="5217919" y="1442640"/>
            <a:ext cx="3404627" cy="2734057"/>
          </a:xfrm>
          <a:prstGeom prst="rect">
            <a:avLst/>
          </a:prstGeom>
          <a:ln w="12700">
            <a:miter lim="400000"/>
          </a:ln>
        </p:spPr>
      </p:pic>
      <p:pic>
        <p:nvPicPr>
          <p:cNvPr id="315" name="Picture 4" descr="Picture 4"/>
          <p:cNvPicPr>
            <a:picLocks noChangeAspect="1"/>
          </p:cNvPicPr>
          <p:nvPr/>
        </p:nvPicPr>
        <p:blipFill>
          <a:blip r:embed="rId3"/>
          <a:stretch>
            <a:fillRect/>
          </a:stretch>
        </p:blipFill>
        <p:spPr>
          <a:xfrm>
            <a:off x="8767229" y="1442640"/>
            <a:ext cx="3330509" cy="2734057"/>
          </a:xfrm>
          <a:prstGeom prst="rect">
            <a:avLst/>
          </a:prstGeom>
          <a:ln w="12700">
            <a:miter lim="400000"/>
          </a:ln>
        </p:spPr>
      </p:pic>
      <p:pic>
        <p:nvPicPr>
          <p:cNvPr id="316" name="Picture 5" descr="Picture 5"/>
          <p:cNvPicPr>
            <a:picLocks noChangeAspect="1"/>
          </p:cNvPicPr>
          <p:nvPr/>
        </p:nvPicPr>
        <p:blipFill>
          <a:blip r:embed="rId4"/>
          <a:stretch>
            <a:fillRect/>
          </a:stretch>
        </p:blipFill>
        <p:spPr>
          <a:xfrm>
            <a:off x="345728" y="1442640"/>
            <a:ext cx="4242011" cy="2734057"/>
          </a:xfrm>
          <a:prstGeom prst="rect">
            <a:avLst/>
          </a:prstGeom>
          <a:ln w="12700">
            <a:miter lim="400000"/>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18</a:t>
            </a:fld>
            <a:endParaRPr/>
          </a:p>
        </p:txBody>
      </p:sp>
      <p:sp>
        <p:nvSpPr>
          <p:cNvPr id="319"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320"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321"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322"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323"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23</a:t>
            </a:r>
          </a:p>
        </p:txBody>
      </p:sp>
      <p:sp>
        <p:nvSpPr>
          <p:cNvPr id="324" name="RESULTS: InceptionV3"/>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Results and Discussion : InceptionV3</a:t>
            </a:r>
          </a:p>
        </p:txBody>
      </p:sp>
      <p:graphicFrame>
        <p:nvGraphicFramePr>
          <p:cNvPr id="325" name="Content Placeholder 15"/>
          <p:cNvGraphicFramePr/>
          <p:nvPr/>
        </p:nvGraphicFramePr>
        <p:xfrm>
          <a:off x="2529639" y="4044584"/>
          <a:ext cx="8335229" cy="2482176"/>
        </p:xfrm>
        <a:graphic>
          <a:graphicData uri="http://schemas.openxmlformats.org/drawingml/2006/table">
            <a:tbl>
              <a:tblPr firstRow="1" firstCol="1" bandRow="1">
                <a:tableStyleId>{4C3C2611-4C71-4FC5-86AE-919BDF0F9419}</a:tableStyleId>
              </a:tblPr>
              <a:tblGrid>
                <a:gridCol w="1402855">
                  <a:extLst>
                    <a:ext uri="{9D8B030D-6E8A-4147-A177-3AD203B41FA5}">
                      <a16:colId xmlns:a16="http://schemas.microsoft.com/office/drawing/2014/main" val="20000"/>
                    </a:ext>
                  </a:extLst>
                </a:gridCol>
                <a:gridCol w="1599779">
                  <a:extLst>
                    <a:ext uri="{9D8B030D-6E8A-4147-A177-3AD203B41FA5}">
                      <a16:colId xmlns:a16="http://schemas.microsoft.com/office/drawing/2014/main" val="20001"/>
                    </a:ext>
                  </a:extLst>
                </a:gridCol>
                <a:gridCol w="1014238">
                  <a:extLst>
                    <a:ext uri="{9D8B030D-6E8A-4147-A177-3AD203B41FA5}">
                      <a16:colId xmlns:a16="http://schemas.microsoft.com/office/drawing/2014/main" val="20002"/>
                    </a:ext>
                  </a:extLst>
                </a:gridCol>
                <a:gridCol w="1223360">
                  <a:extLst>
                    <a:ext uri="{9D8B030D-6E8A-4147-A177-3AD203B41FA5}">
                      <a16:colId xmlns:a16="http://schemas.microsoft.com/office/drawing/2014/main" val="20003"/>
                    </a:ext>
                  </a:extLst>
                </a:gridCol>
                <a:gridCol w="1150168">
                  <a:extLst>
                    <a:ext uri="{9D8B030D-6E8A-4147-A177-3AD203B41FA5}">
                      <a16:colId xmlns:a16="http://schemas.microsoft.com/office/drawing/2014/main" val="20004"/>
                    </a:ext>
                  </a:extLst>
                </a:gridCol>
                <a:gridCol w="1202448">
                  <a:extLst>
                    <a:ext uri="{9D8B030D-6E8A-4147-A177-3AD203B41FA5}">
                      <a16:colId xmlns:a16="http://schemas.microsoft.com/office/drawing/2014/main" val="20005"/>
                    </a:ext>
                  </a:extLst>
                </a:gridCol>
                <a:gridCol w="742381">
                  <a:extLst>
                    <a:ext uri="{9D8B030D-6E8A-4147-A177-3AD203B41FA5}">
                      <a16:colId xmlns:a16="http://schemas.microsoft.com/office/drawing/2014/main" val="20006"/>
                    </a:ext>
                  </a:extLst>
                </a:gridCol>
              </a:tblGrid>
              <a:tr h="486477">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Model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Class</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Precision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Recall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F1-Score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Support</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Accuracy</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extLst>
                  <a:ext uri="{0D108BD9-81ED-4DB2-BD59-A6C34878D82A}">
                    <a16:rowId xmlns:a16="http://schemas.microsoft.com/office/drawing/2014/main" val="10000"/>
                  </a:ext>
                </a:extLst>
              </a:tr>
              <a:tr h="392945">
                <a:tc rowSpan="4">
                  <a:txBody>
                    <a:bodyPr/>
                    <a:lstStyle/>
                    <a:p>
                      <a:pPr algn="just" defTabSz="457200">
                        <a:lnSpc>
                          <a:spcPct val="107000"/>
                        </a:lnSpc>
                        <a:spcBef>
                          <a:spcPts val="800"/>
                        </a:spcBef>
                        <a:defRPr sz="1600" b="1">
                          <a:solidFill>
                            <a:srgbClr val="FFFFFF"/>
                          </a:solidFill>
                          <a:latin typeface="Times New Roman"/>
                          <a:ea typeface="Times New Roman"/>
                          <a:cs typeface="Times New Roman"/>
                          <a:sym typeface="Times New Roman"/>
                        </a:defRPr>
                      </a:pPr>
                      <a:r>
                        <a:t> </a:t>
                      </a:r>
                    </a:p>
                    <a:p>
                      <a:pPr algn="just" defTabSz="457200">
                        <a:lnSpc>
                          <a:spcPct val="107000"/>
                        </a:lnSpc>
                        <a:spcBef>
                          <a:spcPts val="800"/>
                        </a:spcBef>
                        <a:defRPr sz="1600" b="1">
                          <a:solidFill>
                            <a:srgbClr val="FFFFFF"/>
                          </a:solidFill>
                          <a:latin typeface="Times New Roman"/>
                          <a:ea typeface="Times New Roman"/>
                          <a:cs typeface="Times New Roman"/>
                          <a:sym typeface="Times New Roman"/>
                        </a:defRPr>
                      </a:pPr>
                      <a:r>
                        <a:t> </a:t>
                      </a:r>
                    </a:p>
                    <a:p>
                      <a:pPr algn="just" defTabSz="457200">
                        <a:lnSpc>
                          <a:spcPct val="107000"/>
                        </a:lnSpc>
                        <a:spcBef>
                          <a:spcPts val="800"/>
                        </a:spcBef>
                        <a:defRPr sz="1600" b="1">
                          <a:solidFill>
                            <a:srgbClr val="FFFFFF"/>
                          </a:solidFill>
                          <a:latin typeface="Times New Roman"/>
                          <a:ea typeface="Times New Roman"/>
                          <a:cs typeface="Times New Roman"/>
                          <a:sym typeface="Times New Roman"/>
                        </a:defRPr>
                      </a:pPr>
                      <a:r>
                        <a:t>InceptionV3</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Mild Demented</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2693</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rowSpan="4">
                  <a:txBody>
                    <a:bodyPr/>
                    <a:lstStyle/>
                    <a:p>
                      <a:pPr algn="just" defTabSz="457200">
                        <a:lnSpc>
                          <a:spcPct val="107000"/>
                        </a:lnSpc>
                        <a:spcBef>
                          <a:spcPts val="800"/>
                        </a:spcBef>
                        <a:defRPr sz="1600">
                          <a:solidFill>
                            <a:srgbClr val="000000"/>
                          </a:solidFill>
                          <a:latin typeface="Times New Roman"/>
                          <a:ea typeface="Times New Roman"/>
                          <a:cs typeface="Times New Roman"/>
                          <a:sym typeface="Times New Roman"/>
                        </a:defRPr>
                      </a:pPr>
                      <a:r>
                        <a:t> </a:t>
                      </a:r>
                    </a:p>
                    <a:p>
                      <a:pPr algn="just" defTabSz="457200">
                        <a:lnSpc>
                          <a:spcPct val="107000"/>
                        </a:lnSpc>
                        <a:spcBef>
                          <a:spcPts val="800"/>
                        </a:spcBef>
                        <a:defRPr sz="1600">
                          <a:solidFill>
                            <a:srgbClr val="000000"/>
                          </a:solidFill>
                          <a:latin typeface="Times New Roman"/>
                          <a:ea typeface="Times New Roman"/>
                          <a:cs typeface="Times New Roman"/>
                          <a:sym typeface="Times New Roman"/>
                        </a:defRPr>
                      </a:pPr>
                      <a:r>
                        <a:t> </a:t>
                      </a:r>
                    </a:p>
                    <a:p>
                      <a:pPr algn="just" defTabSz="457200">
                        <a:lnSpc>
                          <a:spcPct val="107000"/>
                        </a:lnSpc>
                        <a:spcBef>
                          <a:spcPts val="800"/>
                        </a:spcBef>
                        <a:defRPr sz="1600">
                          <a:solidFill>
                            <a:srgbClr val="000000"/>
                          </a:solidFill>
                          <a:latin typeface="Times New Roman"/>
                          <a:ea typeface="Times New Roman"/>
                          <a:cs typeface="Times New Roman"/>
                          <a:sym typeface="Times New Roman"/>
                        </a:defRPr>
                      </a:pPr>
                      <a:r>
                        <a:t>    99.8%</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extLst>
                  <a:ext uri="{0D108BD9-81ED-4DB2-BD59-A6C34878D82A}">
                    <a16:rowId xmlns:a16="http://schemas.microsoft.com/office/drawing/2014/main" val="10001"/>
                  </a:ext>
                </a:extLst>
              </a:tr>
              <a:tr h="556500">
                <a:tc vMerge="1">
                  <a:txBody>
                    <a:bodyPr/>
                    <a:lstStyle/>
                    <a:p>
                      <a:endParaRPr lang="en-US"/>
                    </a:p>
                  </a:txBody>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Moderate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1977</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2"/>
                  </a:ext>
                </a:extLst>
              </a:tr>
              <a:tr h="289148">
                <a:tc vMerge="1">
                  <a:txBody>
                    <a:bodyPr/>
                    <a:lstStyle/>
                    <a:p>
                      <a:endParaRPr lang="en-US"/>
                    </a:p>
                  </a:txBody>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Non-Demented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2811</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vMerge="1">
                  <a:txBody>
                    <a:bodyPr/>
                    <a:lstStyle/>
                    <a:p>
                      <a:endParaRPr lang="en-US"/>
                    </a:p>
                  </a:txBody>
                  <a:tcPr/>
                </a:tc>
                <a:extLst>
                  <a:ext uri="{0D108BD9-81ED-4DB2-BD59-A6C34878D82A}">
                    <a16:rowId xmlns:a16="http://schemas.microsoft.com/office/drawing/2014/main" val="10003"/>
                  </a:ext>
                </a:extLst>
              </a:tr>
              <a:tr h="739329">
                <a:tc vMerge="1">
                  <a:txBody>
                    <a:bodyPr/>
                    <a:lstStyle/>
                    <a:p>
                      <a:endParaRPr lang="en-US"/>
                    </a:p>
                  </a:txBody>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Very Mild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2715</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326" name="TextBox 2"/>
          <p:cNvSpPr txBox="1"/>
          <p:nvPr/>
        </p:nvSpPr>
        <p:spPr>
          <a:xfrm>
            <a:off x="5926554" y="913364"/>
            <a:ext cx="1844198"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Accuracy Curve</a:t>
            </a:r>
          </a:p>
        </p:txBody>
      </p:sp>
      <p:sp>
        <p:nvSpPr>
          <p:cNvPr id="327" name="TextBox 7"/>
          <p:cNvSpPr txBox="1"/>
          <p:nvPr/>
        </p:nvSpPr>
        <p:spPr>
          <a:xfrm>
            <a:off x="1152752" y="913364"/>
            <a:ext cx="2008021"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Confusion Matrix</a:t>
            </a:r>
          </a:p>
        </p:txBody>
      </p:sp>
      <p:sp>
        <p:nvSpPr>
          <p:cNvPr id="328" name="TextBox 10"/>
          <p:cNvSpPr txBox="1"/>
          <p:nvPr/>
        </p:nvSpPr>
        <p:spPr>
          <a:xfrm>
            <a:off x="9824477" y="913364"/>
            <a:ext cx="1326425"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Loss Curve</a:t>
            </a:r>
          </a:p>
        </p:txBody>
      </p:sp>
      <p:pic>
        <p:nvPicPr>
          <p:cNvPr id="329" name="Picture 11" descr="Picture 11"/>
          <p:cNvPicPr>
            <a:picLocks noChangeAspect="1"/>
          </p:cNvPicPr>
          <p:nvPr/>
        </p:nvPicPr>
        <p:blipFill>
          <a:blip r:embed="rId2"/>
          <a:stretch>
            <a:fillRect/>
          </a:stretch>
        </p:blipFill>
        <p:spPr>
          <a:xfrm>
            <a:off x="4984419" y="1221891"/>
            <a:ext cx="3425674" cy="2706628"/>
          </a:xfrm>
          <a:prstGeom prst="rect">
            <a:avLst/>
          </a:prstGeom>
          <a:ln w="12700">
            <a:miter lim="400000"/>
          </a:ln>
        </p:spPr>
      </p:pic>
      <p:pic>
        <p:nvPicPr>
          <p:cNvPr id="330" name="Picture 12" descr="Picture 12"/>
          <p:cNvPicPr>
            <a:picLocks noChangeAspect="1"/>
          </p:cNvPicPr>
          <p:nvPr/>
        </p:nvPicPr>
        <p:blipFill>
          <a:blip r:embed="rId3"/>
          <a:stretch>
            <a:fillRect/>
          </a:stretch>
        </p:blipFill>
        <p:spPr>
          <a:xfrm>
            <a:off x="8747607" y="1221891"/>
            <a:ext cx="3296853" cy="2706628"/>
          </a:xfrm>
          <a:prstGeom prst="rect">
            <a:avLst/>
          </a:prstGeom>
          <a:ln w="12700">
            <a:miter lim="400000"/>
          </a:ln>
        </p:spPr>
      </p:pic>
      <p:pic>
        <p:nvPicPr>
          <p:cNvPr id="331" name="Picture 15" descr="Picture 15"/>
          <p:cNvPicPr>
            <a:picLocks noChangeAspect="1"/>
          </p:cNvPicPr>
          <p:nvPr/>
        </p:nvPicPr>
        <p:blipFill>
          <a:blip r:embed="rId4"/>
          <a:stretch>
            <a:fillRect/>
          </a:stretch>
        </p:blipFill>
        <p:spPr>
          <a:xfrm>
            <a:off x="136254" y="1226463"/>
            <a:ext cx="4510651" cy="2697485"/>
          </a:xfrm>
          <a:prstGeom prst="rect">
            <a:avLst/>
          </a:prstGeom>
          <a:ln w="12700">
            <a:miter lim="400000"/>
          </a:ln>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
        <p:nvSpPr>
          <p:cNvPr id="334"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335"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336"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337"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338"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t>25</a:t>
            </a:r>
          </a:p>
        </p:txBody>
      </p:sp>
      <p:sp>
        <p:nvSpPr>
          <p:cNvPr id="339" name="RESULTS: InceptionV3 + ATTENTION"/>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RESULTS: InceptionV3 + ATTENTION</a:t>
            </a:r>
          </a:p>
        </p:txBody>
      </p:sp>
      <p:graphicFrame>
        <p:nvGraphicFramePr>
          <p:cNvPr id="340" name="Content Placeholder 15"/>
          <p:cNvGraphicFramePr/>
          <p:nvPr/>
        </p:nvGraphicFramePr>
        <p:xfrm>
          <a:off x="2529639" y="4022316"/>
          <a:ext cx="8335229" cy="2482176"/>
        </p:xfrm>
        <a:graphic>
          <a:graphicData uri="http://schemas.openxmlformats.org/drawingml/2006/table">
            <a:tbl>
              <a:tblPr firstRow="1" firstCol="1" bandRow="1">
                <a:tableStyleId>{4C3C2611-4C71-4FC5-86AE-919BDF0F9419}</a:tableStyleId>
              </a:tblPr>
              <a:tblGrid>
                <a:gridCol w="1402855">
                  <a:extLst>
                    <a:ext uri="{9D8B030D-6E8A-4147-A177-3AD203B41FA5}">
                      <a16:colId xmlns:a16="http://schemas.microsoft.com/office/drawing/2014/main" val="20000"/>
                    </a:ext>
                  </a:extLst>
                </a:gridCol>
                <a:gridCol w="1599779">
                  <a:extLst>
                    <a:ext uri="{9D8B030D-6E8A-4147-A177-3AD203B41FA5}">
                      <a16:colId xmlns:a16="http://schemas.microsoft.com/office/drawing/2014/main" val="20001"/>
                    </a:ext>
                  </a:extLst>
                </a:gridCol>
                <a:gridCol w="1014238">
                  <a:extLst>
                    <a:ext uri="{9D8B030D-6E8A-4147-A177-3AD203B41FA5}">
                      <a16:colId xmlns:a16="http://schemas.microsoft.com/office/drawing/2014/main" val="20002"/>
                    </a:ext>
                  </a:extLst>
                </a:gridCol>
                <a:gridCol w="1223360">
                  <a:extLst>
                    <a:ext uri="{9D8B030D-6E8A-4147-A177-3AD203B41FA5}">
                      <a16:colId xmlns:a16="http://schemas.microsoft.com/office/drawing/2014/main" val="20003"/>
                    </a:ext>
                  </a:extLst>
                </a:gridCol>
                <a:gridCol w="1150168">
                  <a:extLst>
                    <a:ext uri="{9D8B030D-6E8A-4147-A177-3AD203B41FA5}">
                      <a16:colId xmlns:a16="http://schemas.microsoft.com/office/drawing/2014/main" val="20004"/>
                    </a:ext>
                  </a:extLst>
                </a:gridCol>
                <a:gridCol w="1202448">
                  <a:extLst>
                    <a:ext uri="{9D8B030D-6E8A-4147-A177-3AD203B41FA5}">
                      <a16:colId xmlns:a16="http://schemas.microsoft.com/office/drawing/2014/main" val="20005"/>
                    </a:ext>
                  </a:extLst>
                </a:gridCol>
                <a:gridCol w="742381">
                  <a:extLst>
                    <a:ext uri="{9D8B030D-6E8A-4147-A177-3AD203B41FA5}">
                      <a16:colId xmlns:a16="http://schemas.microsoft.com/office/drawing/2014/main" val="20006"/>
                    </a:ext>
                  </a:extLst>
                </a:gridCol>
              </a:tblGrid>
              <a:tr h="486477">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Model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Class</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Precision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Recall</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F1-Score </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Support</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b="1">
                          <a:solidFill>
                            <a:srgbClr val="FFFFFF"/>
                          </a:solidFill>
                          <a:latin typeface="Times New Roman"/>
                          <a:ea typeface="Times New Roman"/>
                          <a:cs typeface="Times New Roman"/>
                          <a:sym typeface="Times New Roman"/>
                        </a:rPr>
                        <a:t>Accuracy</a:t>
                      </a:r>
                    </a:p>
                  </a:txBody>
                  <a:tcPr marL="0" marR="0" marT="0" marB="0" horzOverflow="overflow">
                    <a:lnL w="12700">
                      <a:solidFill>
                        <a:srgbClr val="FFFFFF"/>
                      </a:solidFill>
                    </a:lnL>
                    <a:lnR w="12700">
                      <a:solidFill>
                        <a:srgbClr val="FFFFFF"/>
                      </a:solidFill>
                    </a:lnR>
                    <a:lnT w="12700">
                      <a:solidFill>
                        <a:srgbClr val="FFFFFF"/>
                      </a:solidFill>
                    </a:lnT>
                    <a:lnB w="38100">
                      <a:solidFill>
                        <a:srgbClr val="FFFFFF"/>
                      </a:solidFill>
                    </a:lnB>
                    <a:solidFill>
                      <a:schemeClr val="accent2">
                        <a:lumOff val="-8823"/>
                      </a:schemeClr>
                    </a:solidFill>
                  </a:tcPr>
                </a:tc>
                <a:extLst>
                  <a:ext uri="{0D108BD9-81ED-4DB2-BD59-A6C34878D82A}">
                    <a16:rowId xmlns:a16="http://schemas.microsoft.com/office/drawing/2014/main" val="10000"/>
                  </a:ext>
                </a:extLst>
              </a:tr>
              <a:tr h="392945">
                <a:tc rowSpan="4">
                  <a:txBody>
                    <a:bodyPr/>
                    <a:lstStyle/>
                    <a:p>
                      <a:pPr algn="just" defTabSz="457200">
                        <a:lnSpc>
                          <a:spcPct val="107000"/>
                        </a:lnSpc>
                        <a:spcBef>
                          <a:spcPts val="800"/>
                        </a:spcBef>
                        <a:defRPr sz="1600" b="1">
                          <a:solidFill>
                            <a:srgbClr val="FFFFFF"/>
                          </a:solidFill>
                          <a:latin typeface="Times New Roman"/>
                          <a:ea typeface="Times New Roman"/>
                          <a:cs typeface="Times New Roman"/>
                          <a:sym typeface="Times New Roman"/>
                        </a:defRPr>
                      </a:pPr>
                      <a:r>
                        <a:t> </a:t>
                      </a:r>
                    </a:p>
                    <a:p>
                      <a:pPr algn="just" defTabSz="457200">
                        <a:lnSpc>
                          <a:spcPct val="107000"/>
                        </a:lnSpc>
                        <a:spcBef>
                          <a:spcPts val="800"/>
                        </a:spcBef>
                        <a:defRPr sz="1600" b="1">
                          <a:solidFill>
                            <a:srgbClr val="FFFFFF"/>
                          </a:solidFill>
                          <a:latin typeface="Times New Roman"/>
                          <a:ea typeface="Times New Roman"/>
                          <a:cs typeface="Times New Roman"/>
                          <a:sym typeface="Times New Roman"/>
                        </a:defRPr>
                      </a:pPr>
                      <a:r>
                        <a:t> </a:t>
                      </a:r>
                    </a:p>
                    <a:p>
                      <a:pPr algn="just" defTabSz="457200">
                        <a:lnSpc>
                          <a:spcPct val="107000"/>
                        </a:lnSpc>
                        <a:spcBef>
                          <a:spcPts val="800"/>
                        </a:spcBef>
                        <a:defRPr sz="1600" b="1">
                          <a:solidFill>
                            <a:srgbClr val="FFFFFF"/>
                          </a:solidFill>
                          <a:latin typeface="Times New Roman"/>
                          <a:ea typeface="Times New Roman"/>
                          <a:cs typeface="Times New Roman"/>
                          <a:sym typeface="Times New Roman"/>
                        </a:defRPr>
                      </a:pPr>
                      <a:r>
                        <a:t>InceptionV3</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lumOff val="-8823"/>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Mild Demented</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2693</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tc rowSpan="4">
                  <a:txBody>
                    <a:bodyPr/>
                    <a:lstStyle/>
                    <a:p>
                      <a:pPr algn="just" defTabSz="457200">
                        <a:lnSpc>
                          <a:spcPct val="107000"/>
                        </a:lnSpc>
                        <a:spcBef>
                          <a:spcPts val="800"/>
                        </a:spcBef>
                        <a:defRPr sz="1600">
                          <a:solidFill>
                            <a:srgbClr val="000000"/>
                          </a:solidFill>
                          <a:latin typeface="Times New Roman"/>
                          <a:ea typeface="Times New Roman"/>
                          <a:cs typeface="Times New Roman"/>
                          <a:sym typeface="Times New Roman"/>
                        </a:defRPr>
                      </a:pPr>
                      <a:r>
                        <a:t> </a:t>
                      </a:r>
                    </a:p>
                    <a:p>
                      <a:pPr algn="just" defTabSz="457200">
                        <a:lnSpc>
                          <a:spcPct val="107000"/>
                        </a:lnSpc>
                        <a:spcBef>
                          <a:spcPts val="800"/>
                        </a:spcBef>
                        <a:defRPr sz="1600">
                          <a:solidFill>
                            <a:srgbClr val="000000"/>
                          </a:solidFill>
                          <a:latin typeface="Times New Roman"/>
                          <a:ea typeface="Times New Roman"/>
                          <a:cs typeface="Times New Roman"/>
                          <a:sym typeface="Times New Roman"/>
                        </a:defRPr>
                      </a:pPr>
                      <a:r>
                        <a:t> </a:t>
                      </a:r>
                    </a:p>
                    <a:p>
                      <a:pPr algn="just" defTabSz="457200">
                        <a:lnSpc>
                          <a:spcPct val="107000"/>
                        </a:lnSpc>
                        <a:spcBef>
                          <a:spcPts val="800"/>
                        </a:spcBef>
                        <a:defRPr sz="1600">
                          <a:solidFill>
                            <a:srgbClr val="000000"/>
                          </a:solidFill>
                          <a:latin typeface="Times New Roman"/>
                          <a:ea typeface="Times New Roman"/>
                          <a:cs typeface="Times New Roman"/>
                          <a:sym typeface="Times New Roman"/>
                        </a:defRPr>
                      </a:pPr>
                      <a:r>
                        <a:t>    99.8%</a:t>
                      </a:r>
                    </a:p>
                  </a:txBody>
                  <a:tcPr marL="0" marR="0" marT="0" marB="0" horzOverflow="overflow">
                    <a:lnL w="12700">
                      <a:solidFill>
                        <a:srgbClr val="FFFFFF"/>
                      </a:solidFill>
                    </a:lnL>
                    <a:lnR w="12700">
                      <a:solidFill>
                        <a:srgbClr val="FFFFFF"/>
                      </a:solidFill>
                    </a:lnR>
                    <a:lnT w="38100">
                      <a:solidFill>
                        <a:srgbClr val="FFFFFF"/>
                      </a:solidFill>
                    </a:lnT>
                    <a:lnB w="12700">
                      <a:solidFill>
                        <a:srgbClr val="FFFFFF"/>
                      </a:solidFill>
                    </a:lnB>
                    <a:solidFill>
                      <a:schemeClr val="accent2">
                        <a:satOff val="-21052"/>
                        <a:lumOff val="13970"/>
                      </a:schemeClr>
                    </a:solidFill>
                  </a:tcPr>
                </a:tc>
                <a:extLst>
                  <a:ext uri="{0D108BD9-81ED-4DB2-BD59-A6C34878D82A}">
                    <a16:rowId xmlns:a16="http://schemas.microsoft.com/office/drawing/2014/main" val="10001"/>
                  </a:ext>
                </a:extLst>
              </a:tr>
              <a:tr h="556500">
                <a:tc vMerge="1">
                  <a:txBody>
                    <a:bodyPr/>
                    <a:lstStyle/>
                    <a:p>
                      <a:endParaRPr lang="en-US"/>
                    </a:p>
                  </a:txBody>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Moderate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1977</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2"/>
                  </a:ext>
                </a:extLst>
              </a:tr>
              <a:tr h="289148">
                <a:tc vMerge="1">
                  <a:txBody>
                    <a:bodyPr/>
                    <a:lstStyle/>
                    <a:p>
                      <a:endParaRPr lang="en-US"/>
                    </a:p>
                  </a:txBody>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Non-Demented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2811</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chemeClr val="accent2">
                        <a:satOff val="-21052"/>
                        <a:lumOff val="13970"/>
                      </a:schemeClr>
                    </a:solidFill>
                  </a:tcPr>
                </a:tc>
                <a:tc vMerge="1">
                  <a:txBody>
                    <a:bodyPr/>
                    <a:lstStyle/>
                    <a:p>
                      <a:endParaRPr lang="en-US"/>
                    </a:p>
                  </a:txBody>
                  <a:tcPr/>
                </a:tc>
                <a:extLst>
                  <a:ext uri="{0D108BD9-81ED-4DB2-BD59-A6C34878D82A}">
                    <a16:rowId xmlns:a16="http://schemas.microsoft.com/office/drawing/2014/main" val="10003"/>
                  </a:ext>
                </a:extLst>
              </a:tr>
              <a:tr h="739329">
                <a:tc vMerge="1">
                  <a:txBody>
                    <a:bodyPr/>
                    <a:lstStyle/>
                    <a:p>
                      <a:endParaRPr lang="en-US"/>
                    </a:p>
                  </a:txBody>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Very Mild Demented</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1.00</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a:txBody>
                    <a:bodyPr/>
                    <a:lstStyle/>
                    <a:p>
                      <a:pPr algn="just" defTabSz="457200">
                        <a:lnSpc>
                          <a:spcPct val="107000"/>
                        </a:lnSpc>
                        <a:spcBef>
                          <a:spcPts val="800"/>
                        </a:spcBef>
                        <a:defRPr sz="1800">
                          <a:solidFill>
                            <a:srgbClr val="000000"/>
                          </a:solidFill>
                        </a:defRPr>
                      </a:pPr>
                      <a:r>
                        <a:rPr sz="1600">
                          <a:latin typeface="Times New Roman"/>
                          <a:ea typeface="Times New Roman"/>
                          <a:cs typeface="Times New Roman"/>
                          <a:sym typeface="Times New Roman"/>
                        </a:rPr>
                        <a:t>2715</a:t>
                      </a:r>
                    </a:p>
                  </a:txBody>
                  <a:tcPr marL="0" marR="0" marT="0" marB="0" horzOverflow="overflow">
                    <a:lnL w="12700">
                      <a:solidFill>
                        <a:srgbClr val="FFFFFF"/>
                      </a:solidFill>
                    </a:lnL>
                    <a:lnR w="12700">
                      <a:solidFill>
                        <a:srgbClr val="FFFFFF"/>
                      </a:solidFill>
                    </a:lnR>
                    <a:lnT w="12700">
                      <a:solidFill>
                        <a:srgbClr val="FFFFFF"/>
                      </a:solidFill>
                    </a:lnT>
                    <a:lnB w="12700">
                      <a:solidFill>
                        <a:srgbClr val="FFFFFF"/>
                      </a:solidFill>
                    </a:lnB>
                    <a:solidFill>
                      <a:srgbClr val="7FD1F0"/>
                    </a:solidFill>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341" name="TextBox 2"/>
          <p:cNvSpPr txBox="1"/>
          <p:nvPr/>
        </p:nvSpPr>
        <p:spPr>
          <a:xfrm>
            <a:off x="5886179" y="907610"/>
            <a:ext cx="1844198"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Accuracy Curve</a:t>
            </a:r>
          </a:p>
        </p:txBody>
      </p:sp>
      <p:sp>
        <p:nvSpPr>
          <p:cNvPr id="342" name="TextBox 7"/>
          <p:cNvSpPr txBox="1"/>
          <p:nvPr/>
        </p:nvSpPr>
        <p:spPr>
          <a:xfrm>
            <a:off x="1152752" y="907610"/>
            <a:ext cx="2008021"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Confusion Matrix</a:t>
            </a:r>
          </a:p>
        </p:txBody>
      </p:sp>
      <p:sp>
        <p:nvSpPr>
          <p:cNvPr id="343" name="TextBox 9"/>
          <p:cNvSpPr txBox="1"/>
          <p:nvPr/>
        </p:nvSpPr>
        <p:spPr>
          <a:xfrm>
            <a:off x="298998" y="4879021"/>
            <a:ext cx="2140850" cy="3976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Evaluation Metrics</a:t>
            </a:r>
          </a:p>
        </p:txBody>
      </p:sp>
      <p:sp>
        <p:nvSpPr>
          <p:cNvPr id="344" name="TextBox 10"/>
          <p:cNvSpPr txBox="1"/>
          <p:nvPr/>
        </p:nvSpPr>
        <p:spPr>
          <a:xfrm>
            <a:off x="9812963" y="907610"/>
            <a:ext cx="1326425" cy="3976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nSpc>
                <a:spcPct val="90000"/>
              </a:lnSpc>
              <a:spcBef>
                <a:spcPts val="300"/>
              </a:spcBef>
              <a:defRPr sz="2100">
                <a:solidFill>
                  <a:schemeClr val="accent6"/>
                </a:solidFill>
                <a:latin typeface="Times New Roman"/>
                <a:ea typeface="Times New Roman"/>
                <a:cs typeface="Times New Roman"/>
                <a:sym typeface="Times New Roman"/>
              </a:defRPr>
            </a:lvl1pPr>
          </a:lstStyle>
          <a:p>
            <a:r>
              <a:t>Loss Curve</a:t>
            </a:r>
          </a:p>
        </p:txBody>
      </p:sp>
      <p:pic>
        <p:nvPicPr>
          <p:cNvPr id="345" name="Picture 3" descr="Picture 3"/>
          <p:cNvPicPr>
            <a:picLocks noChangeAspect="1"/>
          </p:cNvPicPr>
          <p:nvPr/>
        </p:nvPicPr>
        <p:blipFill>
          <a:blip r:embed="rId2"/>
          <a:stretch>
            <a:fillRect/>
          </a:stretch>
        </p:blipFill>
        <p:spPr>
          <a:xfrm>
            <a:off x="5095442" y="1223585"/>
            <a:ext cx="3425677" cy="2706625"/>
          </a:xfrm>
          <a:prstGeom prst="rect">
            <a:avLst/>
          </a:prstGeom>
          <a:ln w="12700">
            <a:miter lim="400000"/>
          </a:ln>
        </p:spPr>
      </p:pic>
      <p:pic>
        <p:nvPicPr>
          <p:cNvPr id="346" name="Picture 4" descr="Picture 4"/>
          <p:cNvPicPr>
            <a:picLocks noChangeAspect="1"/>
          </p:cNvPicPr>
          <p:nvPr/>
        </p:nvPicPr>
        <p:blipFill>
          <a:blip r:embed="rId3"/>
          <a:stretch>
            <a:fillRect/>
          </a:stretch>
        </p:blipFill>
        <p:spPr>
          <a:xfrm>
            <a:off x="8763320" y="1223585"/>
            <a:ext cx="3425720" cy="2706625"/>
          </a:xfrm>
          <a:prstGeom prst="rect">
            <a:avLst/>
          </a:prstGeom>
          <a:ln w="12700">
            <a:miter lim="400000"/>
          </a:ln>
        </p:spPr>
      </p:pic>
      <p:pic>
        <p:nvPicPr>
          <p:cNvPr id="347" name="Picture 5" descr="Picture 5"/>
          <p:cNvPicPr>
            <a:picLocks noChangeAspect="1"/>
          </p:cNvPicPr>
          <p:nvPr/>
        </p:nvPicPr>
        <p:blipFill>
          <a:blip r:embed="rId4"/>
          <a:stretch>
            <a:fillRect/>
          </a:stretch>
        </p:blipFill>
        <p:spPr>
          <a:xfrm>
            <a:off x="262519" y="1228157"/>
            <a:ext cx="4307803" cy="2697484"/>
          </a:xfrm>
          <a:prstGeom prst="rect">
            <a:avLst/>
          </a:prstGeom>
          <a:ln w="12700">
            <a:miter lim="400000"/>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Title 1"/>
          <p:cNvSpPr txBox="1">
            <a:spLocks noGrp="1"/>
          </p:cNvSpPr>
          <p:nvPr>
            <p:ph type="title"/>
          </p:nvPr>
        </p:nvSpPr>
        <p:spPr>
          <a:xfrm>
            <a:off x="583417" y="399089"/>
            <a:ext cx="9826450" cy="1190629"/>
          </a:xfrm>
          <a:prstGeom prst="rect">
            <a:avLst/>
          </a:prstGeom>
        </p:spPr>
        <p:txBody>
          <a:bodyPr/>
          <a:lstStyle/>
          <a:p>
            <a:r>
              <a:t>Visualization</a:t>
            </a:r>
          </a:p>
        </p:txBody>
      </p:sp>
      <p:pic>
        <p:nvPicPr>
          <p:cNvPr id="350" name="Picture 4" descr="Picture 4"/>
          <p:cNvPicPr>
            <a:picLocks noChangeAspect="1"/>
          </p:cNvPicPr>
          <p:nvPr/>
        </p:nvPicPr>
        <p:blipFill>
          <a:blip r:embed="rId2"/>
          <a:stretch>
            <a:fillRect/>
          </a:stretch>
        </p:blipFill>
        <p:spPr>
          <a:xfrm>
            <a:off x="583417" y="1935350"/>
            <a:ext cx="2880611" cy="2987300"/>
          </a:xfrm>
          <a:prstGeom prst="rect">
            <a:avLst/>
          </a:prstGeom>
          <a:ln w="12700">
            <a:miter lim="400000"/>
          </a:ln>
        </p:spPr>
      </p:pic>
      <p:pic>
        <p:nvPicPr>
          <p:cNvPr id="351" name="Picture 6" descr="Picture 6"/>
          <p:cNvPicPr>
            <a:picLocks noChangeAspect="1"/>
          </p:cNvPicPr>
          <p:nvPr/>
        </p:nvPicPr>
        <p:blipFill>
          <a:blip r:embed="rId3"/>
          <a:stretch>
            <a:fillRect/>
          </a:stretch>
        </p:blipFill>
        <p:spPr>
          <a:xfrm>
            <a:off x="3685813" y="1935348"/>
            <a:ext cx="3985606" cy="2987300"/>
          </a:xfrm>
          <a:prstGeom prst="rect">
            <a:avLst/>
          </a:prstGeom>
          <a:ln w="12700">
            <a:miter lim="400000"/>
          </a:ln>
        </p:spPr>
      </p:pic>
      <p:pic>
        <p:nvPicPr>
          <p:cNvPr id="352" name="Picture 8" descr="Picture 8"/>
          <p:cNvPicPr>
            <a:picLocks noChangeAspect="1"/>
          </p:cNvPicPr>
          <p:nvPr/>
        </p:nvPicPr>
        <p:blipFill>
          <a:blip r:embed="rId4"/>
          <a:stretch>
            <a:fillRect/>
          </a:stretch>
        </p:blipFill>
        <p:spPr>
          <a:xfrm>
            <a:off x="7839467" y="1935348"/>
            <a:ext cx="3871296" cy="2987300"/>
          </a:xfrm>
          <a:prstGeom prst="rect">
            <a:avLst/>
          </a:prstGeom>
          <a:ln w="12700">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Slide Number"/>
          <p:cNvSpPr txBox="1">
            <a:spLocks noGrp="1"/>
          </p:cNvSpPr>
          <p:nvPr>
            <p:ph type="sldNum" sz="quarter" idx="4294967295"/>
          </p:nvPr>
        </p:nvSpPr>
        <p:spPr>
          <a:xfrm>
            <a:off x="0" y="6581712"/>
            <a:ext cx="270526"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a:p>
        </p:txBody>
      </p:sp>
      <p:sp>
        <p:nvSpPr>
          <p:cNvPr id="355" name="Rectangle 3"/>
          <p:cNvSpPr/>
          <p:nvPr/>
        </p:nvSpPr>
        <p:spPr>
          <a:xfrm>
            <a:off x="0" y="-1"/>
            <a:ext cx="12192000" cy="83975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356" name="Base models MobileNetV2, ResNet50, InceptionV3 achieved an accuracy of 98.9%, 94.7%, and 99.8% accuracy respectively.…"/>
          <p:cNvSpPr txBox="1">
            <a:spLocks noGrp="1"/>
          </p:cNvSpPr>
          <p:nvPr>
            <p:ph type="body" idx="1"/>
          </p:nvPr>
        </p:nvSpPr>
        <p:spPr>
          <a:xfrm>
            <a:off x="407193" y="1125405"/>
            <a:ext cx="11471618" cy="5290860"/>
          </a:xfrm>
          <a:prstGeom prst="rect">
            <a:avLst/>
          </a:prstGeom>
        </p:spPr>
        <p:txBody>
          <a:bodyPr/>
          <a:lstStyle/>
          <a:p>
            <a:pPr marL="210551" indent="-210551">
              <a:spcBef>
                <a:spcPts val="300"/>
              </a:spcBef>
              <a:buFontTx/>
              <a:defRPr sz="2100">
                <a:solidFill>
                  <a:schemeClr val="accent6"/>
                </a:solidFill>
                <a:latin typeface="Times New Roman"/>
                <a:ea typeface="Times New Roman"/>
                <a:cs typeface="Times New Roman"/>
                <a:sym typeface="Times New Roman"/>
              </a:defRPr>
            </a:pPr>
            <a:r>
              <a:rPr dirty="0"/>
              <a:t>Base models MobileNetV2, ResNet50, InceptionV3 achieved an accuracy of 98.9%, 94.7% and 99.8% accuracy respectively.</a:t>
            </a:r>
          </a:p>
          <a:p>
            <a:pPr marL="210551" indent="-210551">
              <a:spcBef>
                <a:spcPts val="300"/>
              </a:spcBef>
              <a:buFontTx/>
              <a:defRPr sz="2100">
                <a:solidFill>
                  <a:schemeClr val="accent6"/>
                </a:solidFill>
                <a:latin typeface="Times New Roman"/>
                <a:ea typeface="Times New Roman"/>
                <a:cs typeface="Times New Roman"/>
                <a:sym typeface="Times New Roman"/>
              </a:defRPr>
            </a:pPr>
            <a:endParaRPr dirty="0"/>
          </a:p>
          <a:p>
            <a:pPr marL="210551" indent="-210551">
              <a:spcBef>
                <a:spcPts val="300"/>
              </a:spcBef>
              <a:buFontTx/>
              <a:defRPr sz="2100">
                <a:solidFill>
                  <a:schemeClr val="accent6"/>
                </a:solidFill>
                <a:latin typeface="Times New Roman"/>
                <a:ea typeface="Times New Roman"/>
                <a:cs typeface="Times New Roman"/>
                <a:sym typeface="Times New Roman"/>
              </a:defRPr>
            </a:pPr>
            <a:r>
              <a:rPr dirty="0"/>
              <a:t>After incorporating Attention</a:t>
            </a:r>
            <a:r>
              <a:rPr lang="en-IN" dirty="0"/>
              <a:t> </a:t>
            </a:r>
            <a:r>
              <a:rPr dirty="0"/>
              <a:t>Augment</a:t>
            </a:r>
            <a:r>
              <a:rPr lang="en-IN" dirty="0"/>
              <a:t>ion</a:t>
            </a:r>
            <a:r>
              <a:rPr dirty="0"/>
              <a:t>with MobileNetV2, ResNet50, InceptionV3 accuracies improved to  99.6%, 99.3% and 99.8% respectively.</a:t>
            </a:r>
          </a:p>
          <a:p>
            <a:pPr marL="210551" indent="-210551">
              <a:spcBef>
                <a:spcPts val="300"/>
              </a:spcBef>
              <a:buFontTx/>
              <a:defRPr sz="2100">
                <a:solidFill>
                  <a:schemeClr val="accent6"/>
                </a:solidFill>
                <a:latin typeface="Times New Roman"/>
                <a:ea typeface="Times New Roman"/>
                <a:cs typeface="Times New Roman"/>
                <a:sym typeface="Times New Roman"/>
              </a:defRPr>
            </a:pPr>
            <a:endParaRPr dirty="0"/>
          </a:p>
          <a:p>
            <a:pPr marL="0" indent="0">
              <a:lnSpc>
                <a:spcPct val="100000"/>
              </a:lnSpc>
              <a:spcBef>
                <a:spcPts val="300"/>
              </a:spcBef>
              <a:buSzTx/>
              <a:buNone/>
              <a:defRPr sz="2100">
                <a:solidFill>
                  <a:schemeClr val="accent6"/>
                </a:solidFill>
                <a:latin typeface="Times New Roman"/>
                <a:ea typeface="Times New Roman"/>
                <a:cs typeface="Times New Roman"/>
                <a:sym typeface="Times New Roman"/>
              </a:defRPr>
            </a:pPr>
            <a:r>
              <a:rPr dirty="0"/>
              <a:t>Key Contributions:</a:t>
            </a:r>
          </a:p>
          <a:p>
            <a:pPr marL="210551" indent="-210551">
              <a:lnSpc>
                <a:spcPct val="100000"/>
              </a:lnSpc>
              <a:spcBef>
                <a:spcPts val="300"/>
              </a:spcBef>
              <a:buFontTx/>
              <a:defRPr sz="2100">
                <a:solidFill>
                  <a:schemeClr val="accent6"/>
                </a:solidFill>
                <a:latin typeface="Times New Roman"/>
                <a:ea typeface="Times New Roman"/>
                <a:cs typeface="Times New Roman"/>
                <a:sym typeface="Times New Roman"/>
              </a:defRPr>
            </a:pPr>
            <a:r>
              <a:rPr dirty="0"/>
              <a:t>Enhanced feature recognition in MRI scans</a:t>
            </a:r>
          </a:p>
          <a:p>
            <a:pPr marL="210551" indent="-210551">
              <a:lnSpc>
                <a:spcPct val="100000"/>
              </a:lnSpc>
              <a:spcBef>
                <a:spcPts val="300"/>
              </a:spcBef>
              <a:buFontTx/>
              <a:defRPr sz="2100">
                <a:solidFill>
                  <a:schemeClr val="accent6"/>
                </a:solidFill>
                <a:latin typeface="Times New Roman"/>
                <a:ea typeface="Times New Roman"/>
                <a:cs typeface="Times New Roman"/>
                <a:sym typeface="Times New Roman"/>
              </a:defRPr>
            </a:pPr>
            <a:r>
              <a:rPr dirty="0"/>
              <a:t>Improved model performance with attention mechanisms</a:t>
            </a:r>
          </a:p>
          <a:p>
            <a:pPr marL="210551" indent="-210551">
              <a:lnSpc>
                <a:spcPct val="100000"/>
              </a:lnSpc>
              <a:spcBef>
                <a:spcPts val="300"/>
              </a:spcBef>
              <a:buFontTx/>
              <a:defRPr sz="2100">
                <a:solidFill>
                  <a:schemeClr val="accent6"/>
                </a:solidFill>
                <a:latin typeface="Times New Roman"/>
                <a:ea typeface="Times New Roman"/>
                <a:cs typeface="Times New Roman"/>
                <a:sym typeface="Times New Roman"/>
              </a:defRPr>
            </a:pPr>
            <a:r>
              <a:rPr dirty="0"/>
              <a:t>Clinically useful for early diagnosis, especially in resource-limited settings</a:t>
            </a:r>
          </a:p>
          <a:p>
            <a:pPr marL="0" indent="0">
              <a:lnSpc>
                <a:spcPct val="100000"/>
              </a:lnSpc>
              <a:spcBef>
                <a:spcPts val="300"/>
              </a:spcBef>
              <a:buSzTx/>
              <a:buNone/>
              <a:defRPr sz="2100">
                <a:solidFill>
                  <a:schemeClr val="accent6"/>
                </a:solidFill>
                <a:latin typeface="Times New Roman"/>
                <a:ea typeface="Times New Roman"/>
                <a:cs typeface="Times New Roman"/>
                <a:sym typeface="Times New Roman"/>
              </a:defRPr>
            </a:pPr>
            <a:r>
              <a:rPr dirty="0"/>
              <a:t>Future Scope:</a:t>
            </a:r>
          </a:p>
          <a:p>
            <a:pPr>
              <a:lnSpc>
                <a:spcPct val="100000"/>
              </a:lnSpc>
              <a:spcBef>
                <a:spcPts val="300"/>
              </a:spcBef>
              <a:defRPr sz="2100">
                <a:solidFill>
                  <a:schemeClr val="accent6"/>
                </a:solidFill>
                <a:latin typeface="Times New Roman"/>
                <a:ea typeface="Times New Roman"/>
                <a:cs typeface="Times New Roman"/>
                <a:sym typeface="Times New Roman"/>
              </a:defRPr>
            </a:pPr>
            <a:r>
              <a:rPr dirty="0"/>
              <a:t>Integration of multimodal data (genetics, biomarkers, cognitive scores)</a:t>
            </a:r>
          </a:p>
          <a:p>
            <a:pPr>
              <a:lnSpc>
                <a:spcPct val="100000"/>
              </a:lnSpc>
              <a:spcBef>
                <a:spcPts val="300"/>
              </a:spcBef>
              <a:defRPr sz="2100">
                <a:solidFill>
                  <a:schemeClr val="accent6"/>
                </a:solidFill>
                <a:latin typeface="Times New Roman"/>
                <a:ea typeface="Times New Roman"/>
                <a:cs typeface="Times New Roman"/>
                <a:sym typeface="Times New Roman"/>
              </a:defRPr>
            </a:pPr>
            <a:r>
              <a:rPr dirty="0"/>
              <a:t>Explainable AI (XAI) for clinical transparency</a:t>
            </a:r>
          </a:p>
          <a:p>
            <a:pPr>
              <a:lnSpc>
                <a:spcPct val="100000"/>
              </a:lnSpc>
              <a:spcBef>
                <a:spcPts val="300"/>
              </a:spcBef>
              <a:defRPr sz="2100">
                <a:solidFill>
                  <a:schemeClr val="accent6"/>
                </a:solidFill>
                <a:latin typeface="Times New Roman"/>
                <a:ea typeface="Times New Roman"/>
                <a:cs typeface="Times New Roman"/>
                <a:sym typeface="Times New Roman"/>
              </a:defRPr>
            </a:pPr>
            <a:r>
              <a:rPr dirty="0"/>
              <a:t>Expansion to continuous monitoring via wearable devices</a:t>
            </a:r>
          </a:p>
        </p:txBody>
      </p:sp>
      <p:sp>
        <p:nvSpPr>
          <p:cNvPr id="357" name="Footer Placeholder 9"/>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358"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359"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360" name="Slide Number Placeholder 4"/>
          <p:cNvSpPr txBox="1"/>
          <p:nvPr/>
        </p:nvSpPr>
        <p:spPr>
          <a:xfrm>
            <a:off x="11368085" y="6531485"/>
            <a:ext cx="270527"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lvl1pPr>
              <a:defRPr sz="1200">
                <a:latin typeface="Tahoma"/>
                <a:ea typeface="Tahoma"/>
                <a:cs typeface="Tahoma"/>
                <a:sym typeface="Tahoma"/>
              </a:defRPr>
            </a:lvl1pPr>
          </a:lstStyle>
          <a:p>
            <a:r>
              <a:rPr dirty="0"/>
              <a:t>27</a:t>
            </a:r>
          </a:p>
        </p:txBody>
      </p:sp>
      <p:sp>
        <p:nvSpPr>
          <p:cNvPr id="361" name="CONCLUSION AND FUTURE WORK"/>
          <p:cNvSpPr txBox="1">
            <a:spLocks noGrp="1"/>
          </p:cNvSpPr>
          <p:nvPr>
            <p:ph type="title"/>
          </p:nvPr>
        </p:nvSpPr>
        <p:spPr>
          <a:xfrm>
            <a:off x="207896" y="90580"/>
            <a:ext cx="9826450" cy="658593"/>
          </a:xfrm>
          <a:prstGeom prst="rect">
            <a:avLst/>
          </a:prstGeom>
        </p:spPr>
        <p:txBody>
          <a:bodyPr/>
          <a:lstStyle>
            <a:lvl1pPr>
              <a:defRPr sz="3900">
                <a:solidFill>
                  <a:srgbClr val="FFFFFF"/>
                </a:solidFill>
                <a:latin typeface="Times New Roman"/>
                <a:ea typeface="Times New Roman"/>
                <a:cs typeface="Times New Roman"/>
                <a:sym typeface="Times New Roman"/>
              </a:defRPr>
            </a:lvl1pPr>
          </a:lstStyle>
          <a:p>
            <a:r>
              <a:t>CONCLUSION AND FUTURE WORK</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Footer Placeholder 8"/>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364"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365" name="Rectangle 3"/>
          <p:cNvSpPr/>
          <p:nvPr/>
        </p:nvSpPr>
        <p:spPr>
          <a:xfrm>
            <a:off x="-9525" y="-596"/>
            <a:ext cx="12192000" cy="77503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366" name="Title 1"/>
          <p:cNvSpPr txBox="1">
            <a:spLocks noGrp="1"/>
          </p:cNvSpPr>
          <p:nvPr>
            <p:ph type="title"/>
          </p:nvPr>
        </p:nvSpPr>
        <p:spPr>
          <a:xfrm>
            <a:off x="9525" y="93303"/>
            <a:ext cx="12096750" cy="568576"/>
          </a:xfrm>
          <a:prstGeom prst="rect">
            <a:avLst/>
          </a:prstGeom>
        </p:spPr>
        <p:txBody>
          <a:bodyPr/>
          <a:lstStyle/>
          <a:p>
            <a:pPr defTabSz="731519">
              <a:defRPr sz="3100"/>
            </a:pPr>
            <a:r>
              <a:t> </a:t>
            </a:r>
            <a:r>
              <a:rPr sz="2900">
                <a:solidFill>
                  <a:srgbClr val="FFFFFF"/>
                </a:solidFill>
                <a:latin typeface="Times New Roman"/>
                <a:ea typeface="Times New Roman"/>
                <a:cs typeface="Times New Roman"/>
                <a:sym typeface="Times New Roman"/>
              </a:rPr>
              <a:t>REFERENCES</a:t>
            </a:r>
          </a:p>
        </p:txBody>
      </p:sp>
      <p:sp>
        <p:nvSpPr>
          <p:cNvPr id="367" name="Slide Number Placeholder 4"/>
          <p:cNvSpPr txBox="1">
            <a:spLocks noGrp="1"/>
          </p:cNvSpPr>
          <p:nvPr>
            <p:ph type="sldNum" sz="quarter" idx="4294967295"/>
          </p:nvPr>
        </p:nvSpPr>
        <p:spPr>
          <a:xfrm>
            <a:off x="11368085" y="6505702"/>
            <a:ext cx="270527"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solidFill>
                  <a:srgbClr val="FFFFFF"/>
                </a:solidFill>
              </a:defRPr>
            </a:lvl1pPr>
          </a:lstStyle>
          <a:p>
            <a:fld id="{86CB4B4D-7CA3-9044-876B-883B54F8677D}" type="slidenum">
              <a:rPr/>
              <a:t>22</a:t>
            </a:fld>
            <a:endParaRPr/>
          </a:p>
        </p:txBody>
      </p:sp>
      <p:sp>
        <p:nvSpPr>
          <p:cNvPr id="368" name="Content Placeholder 5"/>
          <p:cNvSpPr txBox="1">
            <a:spLocks noGrp="1"/>
          </p:cNvSpPr>
          <p:nvPr>
            <p:ph type="body" idx="1"/>
          </p:nvPr>
        </p:nvSpPr>
        <p:spPr>
          <a:xfrm>
            <a:off x="265508" y="951296"/>
            <a:ext cx="11660983" cy="5434508"/>
          </a:xfrm>
          <a:prstGeom prst="rect">
            <a:avLst/>
          </a:prstGeom>
        </p:spPr>
        <p:txBody>
          <a:bodyPr/>
          <a:lstStyle/>
          <a:p>
            <a:pPr marL="280734" indent="-280734">
              <a:spcBef>
                <a:spcPts val="300"/>
              </a:spcBef>
              <a:buFontTx/>
              <a:buAutoNum type="arabicPeriod"/>
              <a:defRPr sz="2100">
                <a:solidFill>
                  <a:schemeClr val="accent6"/>
                </a:solidFill>
                <a:latin typeface="Times New Roman"/>
                <a:ea typeface="Times New Roman"/>
                <a:cs typeface="Times New Roman"/>
                <a:sym typeface="Times New Roman"/>
              </a:defRPr>
            </a:pPr>
            <a:r>
              <a:t>Ji, H., Liu, Z., Yan, W. Q., &amp; Klette, R. (2019, June). Early diagnosis of Alzheimer's disease using deep learning. In Proceedings of the 2nd international conference on control and computer vision (pp. 87-91).</a:t>
            </a:r>
          </a:p>
          <a:p>
            <a:pPr marL="280734" indent="-280734">
              <a:spcBef>
                <a:spcPts val="300"/>
              </a:spcBef>
              <a:buFontTx/>
              <a:buAutoNum type="arabicPeriod"/>
              <a:defRPr sz="2100">
                <a:solidFill>
                  <a:schemeClr val="accent6"/>
                </a:solidFill>
                <a:latin typeface="Times New Roman"/>
                <a:ea typeface="Times New Roman"/>
                <a:cs typeface="Times New Roman"/>
                <a:sym typeface="Times New Roman"/>
              </a:defRPr>
            </a:pPr>
            <a:r>
              <a:t>Ibrahim, R., Ghnemat, R., &amp; Abu Al-Haija, Q. (2023). Improving Alzheimer’s disease and brain tumor detection using deep learning with particle swarm optimization. AI, 4(3), 551-573.</a:t>
            </a:r>
          </a:p>
          <a:p>
            <a:pPr marL="280734" indent="-280734">
              <a:spcBef>
                <a:spcPts val="300"/>
              </a:spcBef>
              <a:buFontTx/>
              <a:buAutoNum type="arabicPeriod"/>
              <a:defRPr sz="2100">
                <a:solidFill>
                  <a:schemeClr val="accent6"/>
                </a:solidFill>
                <a:latin typeface="Times New Roman"/>
                <a:ea typeface="Times New Roman"/>
                <a:cs typeface="Times New Roman"/>
                <a:sym typeface="Times New Roman"/>
              </a:defRPr>
            </a:pPr>
            <a:r>
              <a:t>Hazarika, R. A., Maji, A. K., Kandar, D., Jasinska, E., Krejci, P., Leonowicz, Z., &amp; Jasinski, M. (2023). An approach for classification of Alzheimer’s disease using deep neural network and brain magnetic resonance imaging (MRI). Electronics, 12(3), 676.</a:t>
            </a:r>
          </a:p>
          <a:p>
            <a:pPr marL="280734" indent="-280734">
              <a:spcBef>
                <a:spcPts val="300"/>
              </a:spcBef>
              <a:buFontTx/>
              <a:buAutoNum type="arabicPeriod"/>
              <a:defRPr sz="2100">
                <a:solidFill>
                  <a:schemeClr val="accent6"/>
                </a:solidFill>
                <a:latin typeface="Times New Roman"/>
                <a:ea typeface="Times New Roman"/>
                <a:cs typeface="Times New Roman"/>
                <a:sym typeface="Times New Roman"/>
              </a:defRPr>
            </a:pPr>
            <a:r>
              <a:t>Sharma, S., Guleria, K., Tiwari, S., &amp; Kumar, S. (2022). A deep learning based convolutional neural network model with VGG16 feature extractor for the detection of Alzheimer Disease using MRI scans. Measurement: Sensors, 24, 100506.</a:t>
            </a:r>
          </a:p>
          <a:p>
            <a:pPr marL="280734" indent="-280734">
              <a:spcBef>
                <a:spcPts val="300"/>
              </a:spcBef>
              <a:buFontTx/>
              <a:buAutoNum type="arabicPeriod"/>
              <a:defRPr sz="2100">
                <a:solidFill>
                  <a:schemeClr val="accent6"/>
                </a:solidFill>
                <a:latin typeface="Times New Roman"/>
                <a:ea typeface="Times New Roman"/>
                <a:cs typeface="Times New Roman"/>
                <a:sym typeface="Times New Roman"/>
              </a:defRPr>
            </a:pPr>
            <a:r>
              <a:t>Seliya, Naeem, Taghi M. Khoshgoftaar, and Jason Van Hulse. "A study on the relationships of classifier performance metrics." 2009 21st IEEE international conference on tools with artificial intelligence. IEEE, 2009</a:t>
            </a:r>
          </a:p>
          <a:p>
            <a:pPr marL="280734" indent="-280734">
              <a:spcBef>
                <a:spcPts val="300"/>
              </a:spcBef>
              <a:buFontTx/>
              <a:buAutoNum type="arabicPeriod"/>
              <a:defRPr sz="2100">
                <a:solidFill>
                  <a:schemeClr val="accent6"/>
                </a:solidFill>
                <a:latin typeface="Times New Roman"/>
                <a:ea typeface="Times New Roman"/>
                <a:cs typeface="Times New Roman"/>
                <a:sym typeface="Times New Roman"/>
              </a:defRPr>
            </a:pPr>
            <a:r>
              <a:t>Helaly, H. A., Badawy, M., &amp; Haikal, A. Y. (2022). Deep learning approach for early detection of Alzheimer’s disease. Cognitive computation, 14(5), 1711-1727.</a:t>
            </a:r>
          </a:p>
        </p:txBody>
      </p:sp>
      <p:sp>
        <p:nvSpPr>
          <p:cNvPr id="369"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Footer Placeholder 8"/>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372"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373" name="Rectangle 3"/>
          <p:cNvSpPr/>
          <p:nvPr/>
        </p:nvSpPr>
        <p:spPr>
          <a:xfrm>
            <a:off x="-9525" y="-596"/>
            <a:ext cx="12192000" cy="77503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374" name="Title 1"/>
          <p:cNvSpPr txBox="1">
            <a:spLocks noGrp="1"/>
          </p:cNvSpPr>
          <p:nvPr>
            <p:ph type="title"/>
          </p:nvPr>
        </p:nvSpPr>
        <p:spPr>
          <a:xfrm>
            <a:off x="9525" y="93303"/>
            <a:ext cx="12096750" cy="568576"/>
          </a:xfrm>
          <a:prstGeom prst="rect">
            <a:avLst/>
          </a:prstGeom>
        </p:spPr>
        <p:txBody>
          <a:bodyPr/>
          <a:lstStyle/>
          <a:p>
            <a:pPr defTabSz="731519">
              <a:defRPr sz="3100"/>
            </a:pPr>
            <a:r>
              <a:t> </a:t>
            </a:r>
            <a:r>
              <a:rPr sz="2900">
                <a:solidFill>
                  <a:srgbClr val="FFFFFF"/>
                </a:solidFill>
                <a:latin typeface="Times New Roman"/>
                <a:ea typeface="Times New Roman"/>
                <a:cs typeface="Times New Roman"/>
                <a:sym typeface="Times New Roman"/>
              </a:rPr>
              <a:t>REFERENCES</a:t>
            </a:r>
          </a:p>
        </p:txBody>
      </p:sp>
      <p:sp>
        <p:nvSpPr>
          <p:cNvPr id="375" name="Slide Number Placeholder 4"/>
          <p:cNvSpPr txBox="1">
            <a:spLocks noGrp="1"/>
          </p:cNvSpPr>
          <p:nvPr>
            <p:ph type="sldNum" sz="quarter" idx="4294967295"/>
          </p:nvPr>
        </p:nvSpPr>
        <p:spPr>
          <a:xfrm>
            <a:off x="11368085" y="6505702"/>
            <a:ext cx="270527"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solidFill>
                  <a:srgbClr val="FFFFFF"/>
                </a:solidFill>
              </a:defRPr>
            </a:lvl1pPr>
          </a:lstStyle>
          <a:p>
            <a:fld id="{86CB4B4D-7CA3-9044-876B-883B54F8677D}" type="slidenum">
              <a:t>23</a:t>
            </a:fld>
            <a:endParaRPr/>
          </a:p>
        </p:txBody>
      </p:sp>
      <p:sp>
        <p:nvSpPr>
          <p:cNvPr id="376" name="Content Placeholder 5"/>
          <p:cNvSpPr txBox="1">
            <a:spLocks noGrp="1"/>
          </p:cNvSpPr>
          <p:nvPr>
            <p:ph type="body" idx="1"/>
          </p:nvPr>
        </p:nvSpPr>
        <p:spPr>
          <a:xfrm>
            <a:off x="265508" y="951295"/>
            <a:ext cx="11660983" cy="5506468"/>
          </a:xfrm>
          <a:prstGeom prst="rect">
            <a:avLst/>
          </a:prstGeom>
        </p:spPr>
        <p:txBody>
          <a:bodyPr/>
          <a:lstStyle/>
          <a:p>
            <a:pPr>
              <a:spcBef>
                <a:spcPts val="300"/>
              </a:spcBef>
              <a:buFontTx/>
              <a:buAutoNum type="arabicPeriod" startAt="7"/>
              <a:defRPr sz="2100">
                <a:solidFill>
                  <a:schemeClr val="accent6"/>
                </a:solidFill>
                <a:latin typeface="Times New Roman"/>
                <a:ea typeface="Times New Roman"/>
                <a:cs typeface="Times New Roman"/>
                <a:sym typeface="Times New Roman"/>
              </a:defRPr>
            </a:pPr>
            <a:r>
              <a:t>Murugan, S., Venkatesan, C., Sumithra, M. G., Gao, X. Z., Elakkiya, B., Akila, M., &amp; Manoharan, S. (2021). DEMNET: A deep learning model for early diagnosis of Alzheimer diseases and dementia from MR images. Ieee Access, 9, 90319-90329.</a:t>
            </a:r>
          </a:p>
          <a:p>
            <a:pPr>
              <a:spcBef>
                <a:spcPts val="300"/>
              </a:spcBef>
              <a:buFontTx/>
              <a:buAutoNum type="arabicPeriod" startAt="7"/>
              <a:defRPr sz="2100">
                <a:solidFill>
                  <a:schemeClr val="accent6"/>
                </a:solidFill>
                <a:latin typeface="Times New Roman"/>
                <a:ea typeface="Times New Roman"/>
                <a:cs typeface="Times New Roman"/>
                <a:sym typeface="Times New Roman"/>
              </a:defRPr>
            </a:pPr>
            <a:r>
              <a:t>Venugopalan, J., Tong, L., Hassanzadeh, H. R., &amp; Wang, M. D. (2021). Multimodal deep learning models for early detection of Alzheimer’s disease stage. Scientific reports, 11(1), 3254.</a:t>
            </a:r>
          </a:p>
          <a:p>
            <a:pPr>
              <a:spcBef>
                <a:spcPts val="300"/>
              </a:spcBef>
              <a:buFontTx/>
              <a:buAutoNum type="arabicPeriod" startAt="7"/>
              <a:defRPr sz="2100">
                <a:solidFill>
                  <a:schemeClr val="accent6"/>
                </a:solidFill>
                <a:latin typeface="Times New Roman"/>
                <a:ea typeface="Times New Roman"/>
                <a:cs typeface="Times New Roman"/>
                <a:sym typeface="Times New Roman"/>
              </a:defRPr>
            </a:pPr>
            <a:r>
              <a:t>Ullah, H. T., Onik, Z., Islam, R., &amp; Nandi, D. (2018, April). Alzheimer's disease and dementia detection from 3D brain MRI data using deep convolutional neural networks. In 2018 3rd international conference for convergence in technology (I2CT) (pp. 1-3). IEEE.</a:t>
            </a:r>
          </a:p>
          <a:p>
            <a:pPr>
              <a:spcBef>
                <a:spcPts val="300"/>
              </a:spcBef>
              <a:buFontTx/>
              <a:buAutoNum type="arabicPeriod" startAt="7"/>
              <a:defRPr sz="2100">
                <a:solidFill>
                  <a:schemeClr val="accent6"/>
                </a:solidFill>
                <a:latin typeface="Times New Roman"/>
                <a:ea typeface="Times New Roman"/>
                <a:cs typeface="Times New Roman"/>
                <a:sym typeface="Times New Roman"/>
              </a:defRPr>
            </a:pPr>
            <a:r>
              <a:t>Nawaz, A., Anwar, S. M., Liaqat, R., Iqbal, J., Bagci, U., &amp; Majid, M. (2020, November). Deep convolutional neural network based classification of Alzheimer's disease using MRI data. In 2020 IEEE 23rd International Multitopic Conference (INMIC) (pp. 1-6). IEEE.</a:t>
            </a:r>
          </a:p>
          <a:p>
            <a:pPr>
              <a:spcBef>
                <a:spcPts val="300"/>
              </a:spcBef>
              <a:buFontTx/>
              <a:buAutoNum type="arabicPeriod" startAt="7"/>
              <a:defRPr sz="2100">
                <a:solidFill>
                  <a:schemeClr val="accent6"/>
                </a:solidFill>
                <a:latin typeface="Times New Roman"/>
                <a:ea typeface="Times New Roman"/>
                <a:cs typeface="Times New Roman"/>
                <a:sym typeface="Times New Roman"/>
              </a:defRPr>
            </a:pPr>
            <a:r>
              <a:t>Marwa, E. G., Moustafa, H. E. D., Khalifa, F., Khater, H., &amp; AbdElhalim, E. (2023). An MRI-based deep learning approach for accurate detection of Alzheimer’s disease. Alexandria Engineering Journal, 63, 211-221.</a:t>
            </a:r>
          </a:p>
          <a:p>
            <a:pPr>
              <a:spcBef>
                <a:spcPts val="300"/>
              </a:spcBef>
              <a:buFontTx/>
              <a:buAutoNum type="arabicPeriod" startAt="7"/>
              <a:defRPr sz="2100">
                <a:solidFill>
                  <a:schemeClr val="accent6"/>
                </a:solidFill>
                <a:latin typeface="Times New Roman"/>
                <a:ea typeface="Times New Roman"/>
                <a:cs typeface="Times New Roman"/>
                <a:sym typeface="Times New Roman"/>
              </a:defRPr>
            </a:pPr>
            <a:r>
              <a:t>Farooq, A., Anwar, S., Awais, M., &amp; Rehman, S. (2017, October). A deep CNN based multi-class classification of Alzheimer's disease using MRI. In 2017 IEEE International Conference on Imaging systems and techniques (IST) (pp. 1-6). IEEE.</a:t>
            </a:r>
          </a:p>
        </p:txBody>
      </p:sp>
      <p:sp>
        <p:nvSpPr>
          <p:cNvPr id="377"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378" name="Straight Arrow Connector 10"/>
          <p:cNvSpPr/>
          <p:nvPr/>
        </p:nvSpPr>
        <p:spPr>
          <a:xfrm>
            <a:off x="10618237" y="6457760"/>
            <a:ext cx="317244" cy="3"/>
          </a:xfrm>
          <a:prstGeom prst="line">
            <a:avLst/>
          </a:prstGeom>
          <a:ln w="6350">
            <a:solidFill>
              <a:schemeClr val="accent6"/>
            </a:solidFill>
            <a:miter/>
            <a:tailEnd type="triangle"/>
          </a:ln>
        </p:spPr>
        <p:txBody>
          <a:bodyPr lIns="45718" tIns="45718" rIns="45718" bIns="45718"/>
          <a:lstStyle/>
          <a:p>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Footer Placeholder 8"/>
          <p:cNvSpPr txBox="1"/>
          <p:nvPr/>
        </p:nvSpPr>
        <p:spPr>
          <a:xfrm>
            <a:off x="3007997" y="6581712"/>
            <a:ext cx="505656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solidFill>
                  <a:srgbClr val="00249C"/>
                </a:solidFill>
                <a:latin typeface="Tahoma"/>
                <a:ea typeface="Tahoma"/>
                <a:cs typeface="Tahoma"/>
                <a:sym typeface="Tahoma"/>
              </a:defRPr>
            </a:lvl1pPr>
          </a:lstStyle>
          <a:p>
            <a:r>
              <a:t>1</a:t>
            </a:r>
          </a:p>
        </p:txBody>
      </p:sp>
      <p:sp>
        <p:nvSpPr>
          <p:cNvPr id="381"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382" name="Rectangle 3"/>
          <p:cNvSpPr/>
          <p:nvPr/>
        </p:nvSpPr>
        <p:spPr>
          <a:xfrm>
            <a:off x="-9525" y="-596"/>
            <a:ext cx="12192000" cy="775037"/>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383" name="Title 1"/>
          <p:cNvSpPr txBox="1">
            <a:spLocks noGrp="1"/>
          </p:cNvSpPr>
          <p:nvPr>
            <p:ph type="title"/>
          </p:nvPr>
        </p:nvSpPr>
        <p:spPr>
          <a:xfrm>
            <a:off x="9525" y="93303"/>
            <a:ext cx="12096750" cy="568576"/>
          </a:xfrm>
          <a:prstGeom prst="rect">
            <a:avLst/>
          </a:prstGeom>
        </p:spPr>
        <p:txBody>
          <a:bodyPr/>
          <a:lstStyle/>
          <a:p>
            <a:pPr defTabSz="731519">
              <a:defRPr sz="3100"/>
            </a:pPr>
            <a:r>
              <a:t> </a:t>
            </a:r>
            <a:r>
              <a:rPr sz="2900">
                <a:solidFill>
                  <a:srgbClr val="FFFFFF"/>
                </a:solidFill>
                <a:latin typeface="Times New Roman"/>
                <a:ea typeface="Times New Roman"/>
                <a:cs typeface="Times New Roman"/>
                <a:sym typeface="Times New Roman"/>
              </a:rPr>
              <a:t>REFERENCES</a:t>
            </a:r>
          </a:p>
        </p:txBody>
      </p:sp>
      <p:sp>
        <p:nvSpPr>
          <p:cNvPr id="384" name="Slide Number Placeholder 4"/>
          <p:cNvSpPr txBox="1">
            <a:spLocks noGrp="1"/>
          </p:cNvSpPr>
          <p:nvPr>
            <p:ph type="sldNum" sz="quarter" idx="4294967295"/>
          </p:nvPr>
        </p:nvSpPr>
        <p:spPr>
          <a:xfrm>
            <a:off x="11368085" y="6505702"/>
            <a:ext cx="270527" cy="26923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solidFill>
                  <a:srgbClr val="FFFFFF"/>
                </a:solidFill>
              </a:defRPr>
            </a:lvl1pPr>
          </a:lstStyle>
          <a:p>
            <a:fld id="{86CB4B4D-7CA3-9044-876B-883B54F8677D}" type="slidenum">
              <a:t>24</a:t>
            </a:fld>
            <a:endParaRPr/>
          </a:p>
        </p:txBody>
      </p:sp>
      <p:sp>
        <p:nvSpPr>
          <p:cNvPr id="385" name="Content Placeholder 5"/>
          <p:cNvSpPr txBox="1">
            <a:spLocks noGrp="1"/>
          </p:cNvSpPr>
          <p:nvPr>
            <p:ph type="body" idx="1"/>
          </p:nvPr>
        </p:nvSpPr>
        <p:spPr>
          <a:xfrm>
            <a:off x="265508" y="951295"/>
            <a:ext cx="11660983" cy="5506468"/>
          </a:xfrm>
          <a:prstGeom prst="rect">
            <a:avLst/>
          </a:prstGeom>
        </p:spPr>
        <p:txBody>
          <a:bodyPr/>
          <a:lstStyle/>
          <a:p>
            <a:pPr>
              <a:spcBef>
                <a:spcPts val="300"/>
              </a:spcBef>
              <a:buFontTx/>
              <a:buAutoNum type="arabicPeriod" startAt="13"/>
              <a:defRPr sz="2100">
                <a:solidFill>
                  <a:schemeClr val="accent6"/>
                </a:solidFill>
                <a:latin typeface="Times New Roman"/>
                <a:ea typeface="Times New Roman"/>
                <a:cs typeface="Times New Roman"/>
                <a:sym typeface="Times New Roman"/>
              </a:defRPr>
            </a:pPr>
            <a:r>
              <a:t>Rao, B. S., &amp; Aparna, M. (2023). A review on Alzheimer’s disease through analysis of MRI images using deep learning techniques. IEEE Access, 11, 71542-71554.</a:t>
            </a:r>
          </a:p>
          <a:p>
            <a:pPr>
              <a:spcBef>
                <a:spcPts val="300"/>
              </a:spcBef>
              <a:buFontTx/>
              <a:buAutoNum type="arabicPeriod" startAt="13"/>
              <a:defRPr sz="2100">
                <a:solidFill>
                  <a:schemeClr val="accent6"/>
                </a:solidFill>
                <a:latin typeface="Times New Roman"/>
                <a:ea typeface="Times New Roman"/>
                <a:cs typeface="Times New Roman"/>
                <a:sym typeface="Times New Roman"/>
              </a:defRPr>
            </a:pPr>
            <a:r>
              <a:t>Gupta, M., Kumar, R., &amp; Abraham, A. (2024). Adversarial Network-Based Classification for Alzheimer’s Disease Using Multimodal Brain Images: A Critical Analysis. IEEE Access.</a:t>
            </a:r>
          </a:p>
          <a:p>
            <a:pPr>
              <a:spcBef>
                <a:spcPts val="300"/>
              </a:spcBef>
              <a:buFontTx/>
              <a:buAutoNum type="arabicPeriod" startAt="13"/>
              <a:defRPr sz="2100">
                <a:solidFill>
                  <a:schemeClr val="accent6"/>
                </a:solidFill>
                <a:latin typeface="Times New Roman"/>
                <a:ea typeface="Times New Roman"/>
                <a:cs typeface="Times New Roman"/>
                <a:sym typeface="Times New Roman"/>
              </a:defRPr>
            </a:pPr>
            <a:r>
              <a:t>Ftoutou, A., Majdoub, N., &amp; Ladhari, T. (2023, October). Alzheimer's Disease Classification Using Deep Learning. In 2023 IEEE International Conference on Artificial Intelligence &amp; Green Energy (ICAIGE) (pp. 1-6). IEEE.</a:t>
            </a:r>
          </a:p>
        </p:txBody>
      </p:sp>
      <p:sp>
        <p:nvSpPr>
          <p:cNvPr id="386"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387" name="Straight Arrow Connector 12"/>
          <p:cNvSpPr/>
          <p:nvPr/>
        </p:nvSpPr>
        <p:spPr>
          <a:xfrm>
            <a:off x="10832840" y="6448430"/>
            <a:ext cx="242597" cy="3"/>
          </a:xfrm>
          <a:prstGeom prst="line">
            <a:avLst/>
          </a:prstGeom>
          <a:ln w="6350">
            <a:solidFill>
              <a:schemeClr val="accent6"/>
            </a:solidFill>
            <a:miter/>
            <a:tailEnd type="triangle"/>
          </a:ln>
        </p:spPr>
        <p:txBody>
          <a:bodyPr lIns="45718" tIns="45718" rIns="45718" bIns="45718"/>
          <a:lstStyle/>
          <a:p>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Rectangle 11"/>
          <p:cNvSpPr/>
          <p:nvPr/>
        </p:nvSpPr>
        <p:spPr>
          <a:xfrm>
            <a:off x="-9525" y="-598"/>
            <a:ext cx="12192000" cy="3322298"/>
          </a:xfrm>
          <a:prstGeom prst="rect">
            <a:avLst/>
          </a:prstGeom>
          <a:solidFill>
            <a:srgbClr val="00249C"/>
          </a:solidFill>
          <a:ln w="12700">
            <a:solidFill>
              <a:srgbClr val="4F114F"/>
            </a:solidFill>
            <a:miter/>
          </a:ln>
        </p:spPr>
        <p:txBody>
          <a:bodyPr lIns="45718" tIns="45718" rIns="45718" bIns="45718" anchor="ctr"/>
          <a:lstStyle/>
          <a:p>
            <a:pPr algn="ctr">
              <a:defRPr>
                <a:solidFill>
                  <a:srgbClr val="46D6AB"/>
                </a:solidFill>
                <a:latin typeface="+mj-lt"/>
                <a:ea typeface="+mj-ea"/>
                <a:cs typeface="+mj-cs"/>
                <a:sym typeface="Arial"/>
              </a:defRPr>
            </a:pPr>
            <a:endParaRPr/>
          </a:p>
        </p:txBody>
      </p:sp>
      <p:sp>
        <p:nvSpPr>
          <p:cNvPr id="390" name="Title 1"/>
          <p:cNvSpPr txBox="1">
            <a:spLocks noGrp="1"/>
          </p:cNvSpPr>
          <p:nvPr>
            <p:ph type="title"/>
          </p:nvPr>
        </p:nvSpPr>
        <p:spPr>
          <a:xfrm>
            <a:off x="-9528" y="622881"/>
            <a:ext cx="12192005" cy="1006478"/>
          </a:xfrm>
          <a:prstGeom prst="rect">
            <a:avLst/>
          </a:prstGeom>
        </p:spPr>
        <p:txBody>
          <a:bodyPr/>
          <a:lstStyle/>
          <a:p>
            <a:pPr defTabSz="429768">
              <a:defRPr sz="3300">
                <a:solidFill>
                  <a:srgbClr val="00249C"/>
                </a:solidFill>
                <a:latin typeface="Times New Roman"/>
                <a:ea typeface="Times New Roman"/>
                <a:cs typeface="Times New Roman"/>
                <a:sym typeface="Times New Roman"/>
              </a:defRPr>
            </a:pPr>
            <a:br/>
            <a:r>
              <a:rPr>
                <a:solidFill>
                  <a:srgbClr val="FFFFFF"/>
                </a:solidFill>
              </a:rPr>
              <a:t>Thank You</a:t>
            </a:r>
          </a:p>
        </p:txBody>
      </p:sp>
      <p:sp>
        <p:nvSpPr>
          <p:cNvPr id="391" name="Title 1"/>
          <p:cNvSpPr txBox="1"/>
          <p:nvPr/>
        </p:nvSpPr>
        <p:spPr>
          <a:xfrm>
            <a:off x="1943100" y="1699017"/>
            <a:ext cx="8305800" cy="15544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ormAutofit/>
          </a:bodyPr>
          <a:lstStyle>
            <a:lvl1pPr>
              <a:defRPr sz="5000" b="1">
                <a:solidFill>
                  <a:srgbClr val="04617B"/>
                </a:solidFill>
                <a:latin typeface="Calibri"/>
                <a:ea typeface="Calibri"/>
                <a:cs typeface="Calibri"/>
                <a:sym typeface="Calibri"/>
              </a:defRPr>
            </a:lvl1pPr>
          </a:lstStyle>
          <a:p>
            <a:r>
              <a:t>                  </a:t>
            </a:r>
          </a:p>
        </p:txBody>
      </p:sp>
      <p:sp>
        <p:nvSpPr>
          <p:cNvPr id="392" name="Rectangle 6"/>
          <p:cNvSpPr/>
          <p:nvPr/>
        </p:nvSpPr>
        <p:spPr>
          <a:xfrm>
            <a:off x="0" y="6540758"/>
            <a:ext cx="12192000" cy="317244"/>
          </a:xfrm>
          <a:prstGeom prst="rect">
            <a:avLst/>
          </a:prstGeom>
          <a:solidFill>
            <a:srgbClr val="00249C"/>
          </a:solidFill>
          <a:ln w="12700">
            <a:solidFill>
              <a:srgbClr val="4F114F"/>
            </a:solidFill>
            <a:miter/>
          </a:ln>
        </p:spPr>
        <p:txBody>
          <a:bodyPr lIns="45718" tIns="45718" rIns="45718" bIns="45718" anchor="ctr"/>
          <a:lstStyle/>
          <a:p>
            <a:pPr algn="ctr">
              <a:defRPr>
                <a:latin typeface="+mj-lt"/>
                <a:ea typeface="+mj-ea"/>
                <a:cs typeface="+mj-cs"/>
                <a:sym typeface="Arial"/>
              </a:defRPr>
            </a:pPr>
            <a:endParaRPr/>
          </a:p>
        </p:txBody>
      </p:sp>
      <p:sp>
        <p:nvSpPr>
          <p:cNvPr id="393" name="Date Placeholder 2"/>
          <p:cNvSpPr txBox="1"/>
          <p:nvPr/>
        </p:nvSpPr>
        <p:spPr>
          <a:xfrm>
            <a:off x="4853663" y="6576728"/>
            <a:ext cx="2994315"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Vellore Institute of Technology, Chennai</a:t>
            </a:r>
          </a:p>
        </p:txBody>
      </p:sp>
      <p:sp>
        <p:nvSpPr>
          <p:cNvPr id="394" name="Date Placeholder 2"/>
          <p:cNvSpPr txBox="1"/>
          <p:nvPr/>
        </p:nvSpPr>
        <p:spPr>
          <a:xfrm>
            <a:off x="11438180" y="6540817"/>
            <a:ext cx="698576" cy="269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defRPr sz="1200">
                <a:latin typeface="Tahoma"/>
                <a:ea typeface="Tahoma"/>
                <a:cs typeface="Tahoma"/>
                <a:sym typeface="Tahoma"/>
              </a:defRPr>
            </a:lvl1pPr>
          </a:lstStyle>
          <a:p>
            <a:r>
              <a:t>33</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FFFFFF"/>
      </a:dk1>
      <a:lt1>
        <a:srgbClr val="FFFFFF"/>
      </a:lt1>
      <a:dk2>
        <a:srgbClr val="A7A7A7"/>
      </a:dk2>
      <a:lt2>
        <a:srgbClr val="535353"/>
      </a:lt2>
      <a:accent1>
        <a:srgbClr val="BA28BA"/>
      </a:accent1>
      <a:accent2>
        <a:srgbClr val="00A3E1"/>
      </a:accent2>
      <a:accent3>
        <a:srgbClr val="B1E4E2"/>
      </a:accent3>
      <a:accent4>
        <a:srgbClr val="C4E86C"/>
      </a:accent4>
      <a:accent5>
        <a:srgbClr val="F7E948"/>
      </a:accent5>
      <a:accent6>
        <a:srgbClr val="2C2825"/>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9C9C9C"/>
      </a:dk1>
      <a:lt1>
        <a:srgbClr val="00249C"/>
      </a:lt1>
      <a:dk2>
        <a:srgbClr val="A7A7A7"/>
      </a:dk2>
      <a:lt2>
        <a:srgbClr val="535353"/>
      </a:lt2>
      <a:accent1>
        <a:srgbClr val="BA28BA"/>
      </a:accent1>
      <a:accent2>
        <a:srgbClr val="00A3E1"/>
      </a:accent2>
      <a:accent3>
        <a:srgbClr val="B1E4E2"/>
      </a:accent3>
      <a:accent4>
        <a:srgbClr val="C4E86C"/>
      </a:accent4>
      <a:accent5>
        <a:srgbClr val="F7E948"/>
      </a:accent5>
      <a:accent6>
        <a:srgbClr val="2C2825"/>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44</TotalTime>
  <Words>2045</Words>
  <Application>Microsoft Office PowerPoint</Application>
  <PresentationFormat>Widescreen</PresentationFormat>
  <Paragraphs>428</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微软雅黑</vt:lpstr>
      <vt:lpstr>Arial</vt:lpstr>
      <vt:lpstr>Tahoma</vt:lpstr>
      <vt:lpstr>Times New Roman</vt:lpstr>
      <vt:lpstr>Office Theme</vt:lpstr>
      <vt:lpstr>PowerPoint Presentation</vt:lpstr>
      <vt:lpstr>INTRODUCTION</vt:lpstr>
      <vt:lpstr> PROBLEM STATEMENT</vt:lpstr>
      <vt:lpstr>RESEARCH OBJECTIVE</vt:lpstr>
      <vt:lpstr>     PROPOSED SYSTEM</vt:lpstr>
      <vt:lpstr>DATASET</vt:lpstr>
      <vt:lpstr>Sample Images</vt:lpstr>
      <vt:lpstr>PROPOSED FLOW DIAGRAM</vt:lpstr>
      <vt:lpstr>MobileNetV2</vt:lpstr>
      <vt:lpstr>ResNet50</vt:lpstr>
      <vt:lpstr>InceptionV3</vt:lpstr>
      <vt:lpstr>AUGMENTED ATTENTION </vt:lpstr>
      <vt:lpstr>EVALUATION METRICS</vt:lpstr>
      <vt:lpstr> Results and Discussion - MobileNetV2</vt:lpstr>
      <vt:lpstr>MobileNetV2 + ATTENTION</vt:lpstr>
      <vt:lpstr>Results and Discussion : ResNet50</vt:lpstr>
      <vt:lpstr>RESULTS: ResNet50 + ATTENTION</vt:lpstr>
      <vt:lpstr>Results and Discussion : InceptionV3</vt:lpstr>
      <vt:lpstr>RESULTS: InceptionV3 + ATTENTION</vt:lpstr>
      <vt:lpstr>Visualization</vt:lpstr>
      <vt:lpstr>CONCLUSION AND FUTURE WORK</vt:lpstr>
      <vt:lpstr> REFERENCES</vt:lpstr>
      <vt:lpstr> REFERENCES</vt:lpstr>
      <vt:lpstr> 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Neeraja R</cp:lastModifiedBy>
  <cp:revision>3</cp:revision>
  <dcterms:modified xsi:type="dcterms:W3CDTF">2025-12-13T00:29:58Z</dcterms:modified>
</cp:coreProperties>
</file>